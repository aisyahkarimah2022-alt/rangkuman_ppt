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8288000" cy="10287000"/>
  <p:notesSz cx="6858000" cy="9144000"/>
  <p:embeddedFontLst>
    <p:embeddedFont>
      <p:font typeface="Libre Baskerville" panose="02000000000000000000" pitchFamily="2" charset="0"/>
      <p:regular r:id="rId15"/>
    </p:embeddedFont>
    <p:embeddedFont>
      <p:font typeface="Libre Baskerville Bold" panose="02000000000000000000" charset="0"/>
      <p:regular r:id="rId16"/>
    </p:embeddedFont>
    <p:embeddedFont>
      <p:font typeface="Playfair Display Bold" panose="020B0604020202020204" charset="0"/>
      <p:regular r:id="rId17"/>
    </p:embeddedFont>
    <p:embeddedFont>
      <p:font typeface="Urdu Typesetting" panose="03020402040406030203" pitchFamily="66" charset="-78"/>
      <p:regular r:id="rId18"/>
      <p:bold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1" d="100"/>
          <a:sy n="71" d="100"/>
        </p:scale>
        <p:origin x="714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7.svg"/><Relationship Id="rId7" Type="http://schemas.openxmlformats.org/officeDocument/2006/relationships/image" Target="../media/image19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jpeg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svg"/><Relationship Id="rId4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svg"/><Relationship Id="rId5" Type="http://schemas.openxmlformats.org/officeDocument/2006/relationships/image" Target="../media/image33.png"/><Relationship Id="rId4" Type="http://schemas.openxmlformats.org/officeDocument/2006/relationships/image" Target="../media/image32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7" Type="http://schemas.openxmlformats.org/officeDocument/2006/relationships/image" Target="../media/image40.sv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5" Type="http://schemas.openxmlformats.org/officeDocument/2006/relationships/image" Target="../media/image38.svg"/><Relationship Id="rId4" Type="http://schemas.openxmlformats.org/officeDocument/2006/relationships/image" Target="../media/image3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sv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46.svg"/><Relationship Id="rId7" Type="http://schemas.openxmlformats.org/officeDocument/2006/relationships/image" Target="../media/image48.sv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png"/><Relationship Id="rId5" Type="http://schemas.openxmlformats.org/officeDocument/2006/relationships/image" Target="../media/image2.svg"/><Relationship Id="rId4" Type="http://schemas.openxmlformats.org/officeDocument/2006/relationships/image" Target="../media/image1.png"/><Relationship Id="rId9" Type="http://schemas.openxmlformats.org/officeDocument/2006/relationships/image" Target="../media/image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086279" y="3840358"/>
            <a:ext cx="13249963" cy="3477026"/>
            <a:chOff x="0" y="0"/>
            <a:chExt cx="3489702" cy="9157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489702" cy="915760"/>
            </a:xfrm>
            <a:custGeom>
              <a:avLst/>
              <a:gdLst/>
              <a:ahLst/>
              <a:cxnLst/>
              <a:rect l="l" t="t" r="r" b="b"/>
              <a:pathLst>
                <a:path w="3489702" h="915760">
                  <a:moveTo>
                    <a:pt x="0" y="0"/>
                  </a:moveTo>
                  <a:lnTo>
                    <a:pt x="3489702" y="0"/>
                  </a:lnTo>
                  <a:lnTo>
                    <a:pt x="3489702" y="915760"/>
                  </a:lnTo>
                  <a:lnTo>
                    <a:pt x="0" y="915760"/>
                  </a:lnTo>
                  <a:close/>
                </a:path>
              </a:pathLst>
            </a:custGeom>
            <a:solidFill>
              <a:srgbClr val="456882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3489702" cy="9538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0" y="0"/>
            <a:ext cx="3059915" cy="4114800"/>
          </a:xfrm>
          <a:custGeom>
            <a:avLst/>
            <a:gdLst/>
            <a:ahLst/>
            <a:cxnLst/>
            <a:rect l="l" t="t" r="r" b="b"/>
            <a:pathLst>
              <a:path w="3059915" h="4114800">
                <a:moveTo>
                  <a:pt x="0" y="0"/>
                </a:moveTo>
                <a:lnTo>
                  <a:pt x="3059915" y="0"/>
                </a:lnTo>
                <a:lnTo>
                  <a:pt x="305991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-1127897" y="9258300"/>
            <a:ext cx="10005308" cy="255013"/>
            <a:chOff x="0" y="0"/>
            <a:chExt cx="2635143" cy="6716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635143" cy="67164"/>
            </a:xfrm>
            <a:custGeom>
              <a:avLst/>
              <a:gdLst/>
              <a:ahLst/>
              <a:cxnLst/>
              <a:rect l="l" t="t" r="r" b="b"/>
              <a:pathLst>
                <a:path w="2635143" h="67164">
                  <a:moveTo>
                    <a:pt x="0" y="0"/>
                  </a:moveTo>
                  <a:lnTo>
                    <a:pt x="2635143" y="0"/>
                  </a:lnTo>
                  <a:lnTo>
                    <a:pt x="2635143" y="67164"/>
                  </a:lnTo>
                  <a:lnTo>
                    <a:pt x="0" y="67164"/>
                  </a:lnTo>
                  <a:close/>
                </a:path>
              </a:pathLst>
            </a:custGeom>
            <a:solidFill>
              <a:srgbClr val="1B3C53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635143" cy="1052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0" y="9644889"/>
            <a:ext cx="10005308" cy="255013"/>
            <a:chOff x="0" y="0"/>
            <a:chExt cx="2635143" cy="6716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635143" cy="67164"/>
            </a:xfrm>
            <a:custGeom>
              <a:avLst/>
              <a:gdLst/>
              <a:ahLst/>
              <a:cxnLst/>
              <a:rect l="l" t="t" r="r" b="b"/>
              <a:pathLst>
                <a:path w="2635143" h="67164">
                  <a:moveTo>
                    <a:pt x="0" y="0"/>
                  </a:moveTo>
                  <a:lnTo>
                    <a:pt x="2635143" y="0"/>
                  </a:lnTo>
                  <a:lnTo>
                    <a:pt x="2635143" y="67164"/>
                  </a:lnTo>
                  <a:lnTo>
                    <a:pt x="0" y="67164"/>
                  </a:lnTo>
                  <a:close/>
                </a:path>
              </a:pathLst>
            </a:custGeom>
            <a:solidFill>
              <a:srgbClr val="D2C1B6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2635143" cy="1052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4141346" y="892379"/>
            <a:ext cx="581545" cy="581545"/>
          </a:xfrm>
          <a:custGeom>
            <a:avLst/>
            <a:gdLst/>
            <a:ahLst/>
            <a:cxnLst/>
            <a:rect l="l" t="t" r="r" b="b"/>
            <a:pathLst>
              <a:path w="581545" h="581545">
                <a:moveTo>
                  <a:pt x="0" y="0"/>
                </a:moveTo>
                <a:lnTo>
                  <a:pt x="581545" y="0"/>
                </a:lnTo>
                <a:lnTo>
                  <a:pt x="581545" y="581545"/>
                </a:lnTo>
                <a:lnTo>
                  <a:pt x="0" y="5815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-1504736" y="8160797"/>
            <a:ext cx="3685104" cy="2968184"/>
          </a:xfrm>
          <a:custGeom>
            <a:avLst/>
            <a:gdLst/>
            <a:ahLst/>
            <a:cxnLst/>
            <a:rect l="l" t="t" r="r" b="b"/>
            <a:pathLst>
              <a:path w="3685104" h="2968184">
                <a:moveTo>
                  <a:pt x="0" y="0"/>
                </a:moveTo>
                <a:lnTo>
                  <a:pt x="3685104" y="0"/>
                </a:lnTo>
                <a:lnTo>
                  <a:pt x="3685104" y="2968183"/>
                </a:lnTo>
                <a:lnTo>
                  <a:pt x="0" y="296818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36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 rot="-217147" flipH="1" flipV="1">
            <a:off x="12740301" y="4571800"/>
            <a:ext cx="7432162" cy="5851138"/>
          </a:xfrm>
          <a:custGeom>
            <a:avLst/>
            <a:gdLst/>
            <a:ahLst/>
            <a:cxnLst/>
            <a:rect l="l" t="t" r="r" b="b"/>
            <a:pathLst>
              <a:path w="7432162" h="5851138">
                <a:moveTo>
                  <a:pt x="7432162" y="5851138"/>
                </a:moveTo>
                <a:lnTo>
                  <a:pt x="0" y="5851138"/>
                </a:lnTo>
                <a:lnTo>
                  <a:pt x="0" y="0"/>
                </a:lnTo>
                <a:lnTo>
                  <a:pt x="7432162" y="0"/>
                </a:lnTo>
                <a:lnTo>
                  <a:pt x="7432162" y="5851138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1681218" y="-1333355"/>
            <a:ext cx="8317483" cy="8550683"/>
          </a:xfrm>
          <a:custGeom>
            <a:avLst/>
            <a:gdLst/>
            <a:ahLst/>
            <a:cxnLst/>
            <a:rect l="l" t="t" r="r" b="b"/>
            <a:pathLst>
              <a:path w="8317483" h="8550683">
                <a:moveTo>
                  <a:pt x="0" y="0"/>
                </a:moveTo>
                <a:lnTo>
                  <a:pt x="8317483" y="0"/>
                </a:lnTo>
                <a:lnTo>
                  <a:pt x="8317483" y="8550683"/>
                </a:lnTo>
                <a:lnTo>
                  <a:pt x="0" y="855068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3502402" y="2237026"/>
            <a:ext cx="10627777" cy="12167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893"/>
              </a:lnSpc>
            </a:pPr>
            <a:r>
              <a:rPr lang="en-US" sz="3495" b="1" spc="758" dirty="0">
                <a:solidFill>
                  <a:srgbClr val="7B4C26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TUGAS PEMROGAMAN MOBILE ANDROID DENGAN JAVA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897879" y="990600"/>
            <a:ext cx="6340852" cy="3727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2"/>
              </a:lnSpc>
            </a:pPr>
            <a:r>
              <a:rPr lang="en-US" sz="2201" b="1">
                <a:solidFill>
                  <a:srgbClr val="7B4C26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STIKOM TUNAS BANGSA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537029" y="4819590"/>
            <a:ext cx="6806612" cy="1634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71"/>
              </a:lnSpc>
            </a:pPr>
            <a:r>
              <a:rPr lang="en-US" sz="2400" dirty="0">
                <a:solidFill>
                  <a:srgbClr val="FFFF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Nama  : Aisya Cahya Karimah</a:t>
            </a:r>
          </a:p>
          <a:p>
            <a:pPr algn="l">
              <a:lnSpc>
                <a:spcPts val="4371"/>
              </a:lnSpc>
            </a:pPr>
            <a:r>
              <a:rPr lang="en-US" sz="2400" dirty="0">
                <a:solidFill>
                  <a:srgbClr val="FFFF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Nim    : 2302213</a:t>
            </a:r>
          </a:p>
          <a:p>
            <a:pPr algn="l">
              <a:lnSpc>
                <a:spcPts val="4371"/>
              </a:lnSpc>
            </a:pPr>
            <a:r>
              <a:rPr lang="en-US" sz="2400" dirty="0" err="1">
                <a:solidFill>
                  <a:srgbClr val="FFFF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Kelas</a:t>
            </a:r>
            <a:r>
              <a:rPr lang="en-US" sz="2400" dirty="0">
                <a:solidFill>
                  <a:srgbClr val="FFFF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  : 23S04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D95B8FF-A698-47A1-E017-E4AEFBE730D8}"/>
              </a:ext>
            </a:extLst>
          </p:cNvPr>
          <p:cNvSpPr txBox="1"/>
          <p:nvPr/>
        </p:nvSpPr>
        <p:spPr>
          <a:xfrm>
            <a:off x="4372175" y="4127438"/>
            <a:ext cx="109324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spc="758" dirty="0">
                <a:solidFill>
                  <a:schemeClr val="bg1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RANGKUMAN BAB 1-6</a:t>
            </a:r>
            <a:endParaRPr lang="en-ID" sz="2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1028700" y="9258300"/>
            <a:ext cx="3398965" cy="2515234"/>
          </a:xfrm>
          <a:custGeom>
            <a:avLst/>
            <a:gdLst/>
            <a:ahLst/>
            <a:cxnLst/>
            <a:rect l="l" t="t" r="r" b="b"/>
            <a:pathLst>
              <a:path w="3398965" h="2515234">
                <a:moveTo>
                  <a:pt x="3398965" y="0"/>
                </a:moveTo>
                <a:lnTo>
                  <a:pt x="0" y="0"/>
                </a:lnTo>
                <a:lnTo>
                  <a:pt x="0" y="2515234"/>
                </a:lnTo>
                <a:lnTo>
                  <a:pt x="3398965" y="2515234"/>
                </a:lnTo>
                <a:lnTo>
                  <a:pt x="3398965" y="0"/>
                </a:lnTo>
                <a:close/>
              </a:path>
            </a:pathLst>
          </a:custGeom>
          <a:blipFill>
            <a:blip r:embed="rId2">
              <a:alphaModFix amt="3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298058" y="1028700"/>
            <a:ext cx="1965454" cy="835863"/>
            <a:chOff x="0" y="0"/>
            <a:chExt cx="517651" cy="22014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17651" cy="220145"/>
            </a:xfrm>
            <a:custGeom>
              <a:avLst/>
              <a:gdLst/>
              <a:ahLst/>
              <a:cxnLst/>
              <a:rect l="l" t="t" r="r" b="b"/>
              <a:pathLst>
                <a:path w="517651" h="220145">
                  <a:moveTo>
                    <a:pt x="0" y="0"/>
                  </a:moveTo>
                  <a:lnTo>
                    <a:pt x="517651" y="0"/>
                  </a:lnTo>
                  <a:lnTo>
                    <a:pt x="517651" y="220145"/>
                  </a:lnTo>
                  <a:lnTo>
                    <a:pt x="0" y="220145"/>
                  </a:lnTo>
                  <a:close/>
                </a:path>
              </a:pathLst>
            </a:custGeom>
            <a:solidFill>
              <a:srgbClr val="1B3C53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517651" cy="2582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470054" y="3088761"/>
            <a:ext cx="20107371" cy="5262626"/>
            <a:chOff x="0" y="0"/>
            <a:chExt cx="5295768" cy="138604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295768" cy="1386042"/>
            </a:xfrm>
            <a:custGeom>
              <a:avLst/>
              <a:gdLst/>
              <a:ahLst/>
              <a:cxnLst/>
              <a:rect l="l" t="t" r="r" b="b"/>
              <a:pathLst>
                <a:path w="5295768" h="1386042">
                  <a:moveTo>
                    <a:pt x="18096" y="0"/>
                  </a:moveTo>
                  <a:lnTo>
                    <a:pt x="5277672" y="0"/>
                  </a:lnTo>
                  <a:cubicBezTo>
                    <a:pt x="5287666" y="0"/>
                    <a:pt x="5295768" y="8102"/>
                    <a:pt x="5295768" y="18096"/>
                  </a:cubicBezTo>
                  <a:lnTo>
                    <a:pt x="5295768" y="1367945"/>
                  </a:lnTo>
                  <a:cubicBezTo>
                    <a:pt x="5295768" y="1372745"/>
                    <a:pt x="5293862" y="1377348"/>
                    <a:pt x="5290468" y="1380741"/>
                  </a:cubicBezTo>
                  <a:cubicBezTo>
                    <a:pt x="5287074" y="1384135"/>
                    <a:pt x="5282471" y="1386042"/>
                    <a:pt x="5277672" y="1386042"/>
                  </a:cubicBezTo>
                  <a:lnTo>
                    <a:pt x="18096" y="1386042"/>
                  </a:lnTo>
                  <a:cubicBezTo>
                    <a:pt x="8102" y="1386042"/>
                    <a:pt x="0" y="1377940"/>
                    <a:pt x="0" y="1367945"/>
                  </a:cubicBezTo>
                  <a:lnTo>
                    <a:pt x="0" y="18096"/>
                  </a:lnTo>
                  <a:cubicBezTo>
                    <a:pt x="0" y="13297"/>
                    <a:pt x="1907" y="8694"/>
                    <a:pt x="5300" y="5300"/>
                  </a:cubicBezTo>
                  <a:cubicBezTo>
                    <a:pt x="8694" y="1907"/>
                    <a:pt x="13297" y="0"/>
                    <a:pt x="18096" y="0"/>
                  </a:cubicBezTo>
                  <a:close/>
                </a:path>
              </a:pathLst>
            </a:custGeom>
            <a:solidFill>
              <a:srgbClr val="D2C1B6">
                <a:alpha val="72941"/>
              </a:srgbClr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5295768" cy="14241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3587113">
            <a:off x="14030879" y="512781"/>
            <a:ext cx="5331404" cy="2197724"/>
            <a:chOff x="0" y="0"/>
            <a:chExt cx="1404156" cy="57882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404156" cy="578824"/>
            </a:xfrm>
            <a:custGeom>
              <a:avLst/>
              <a:gdLst/>
              <a:ahLst/>
              <a:cxnLst/>
              <a:rect l="l" t="t" r="r" b="b"/>
              <a:pathLst>
                <a:path w="1404156" h="578824">
                  <a:moveTo>
                    <a:pt x="0" y="0"/>
                  </a:moveTo>
                  <a:lnTo>
                    <a:pt x="1404156" y="0"/>
                  </a:lnTo>
                  <a:lnTo>
                    <a:pt x="1404156" y="578824"/>
                  </a:lnTo>
                  <a:lnTo>
                    <a:pt x="0" y="578824"/>
                  </a:lnTo>
                  <a:close/>
                </a:path>
              </a:pathLst>
            </a:custGeom>
            <a:solidFill>
              <a:srgbClr val="D2C1B6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404156" cy="6169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 rot="6023207">
            <a:off x="12193187" y="5416409"/>
            <a:ext cx="9359356" cy="2308481"/>
            <a:chOff x="0" y="0"/>
            <a:chExt cx="2465016" cy="60799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465016" cy="607995"/>
            </a:xfrm>
            <a:custGeom>
              <a:avLst/>
              <a:gdLst/>
              <a:ahLst/>
              <a:cxnLst/>
              <a:rect l="l" t="t" r="r" b="b"/>
              <a:pathLst>
                <a:path w="2465016" h="607995">
                  <a:moveTo>
                    <a:pt x="0" y="0"/>
                  </a:moveTo>
                  <a:lnTo>
                    <a:pt x="2465016" y="0"/>
                  </a:lnTo>
                  <a:lnTo>
                    <a:pt x="2465016" y="607995"/>
                  </a:lnTo>
                  <a:lnTo>
                    <a:pt x="0" y="607995"/>
                  </a:lnTo>
                  <a:close/>
                </a:path>
              </a:pathLst>
            </a:custGeom>
            <a:solidFill>
              <a:srgbClr val="456882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2465016" cy="6460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5" name="Group 15"/>
          <p:cNvGrpSpPr>
            <a:grpSpLocks noChangeAspect="1"/>
          </p:cNvGrpSpPr>
          <p:nvPr/>
        </p:nvGrpSpPr>
        <p:grpSpPr>
          <a:xfrm>
            <a:off x="14075825" y="885482"/>
            <a:ext cx="5066721" cy="5565633"/>
            <a:chOff x="0" y="0"/>
            <a:chExt cx="5803900" cy="6375400"/>
          </a:xfrm>
        </p:grpSpPr>
        <p:sp>
          <p:nvSpPr>
            <p:cNvPr id="16" name="Freeform 16"/>
            <p:cNvSpPr/>
            <p:nvPr/>
          </p:nvSpPr>
          <p:spPr>
            <a:xfrm>
              <a:off x="12700" y="12700"/>
              <a:ext cx="5778500" cy="6350000"/>
            </a:xfrm>
            <a:custGeom>
              <a:avLst/>
              <a:gdLst/>
              <a:ahLst/>
              <a:cxnLst/>
              <a:rect l="l" t="t" r="r" b="b"/>
              <a:pathLst>
                <a:path w="5778500" h="6350000">
                  <a:moveTo>
                    <a:pt x="2889250" y="0"/>
                  </a:moveTo>
                  <a:cubicBezTo>
                    <a:pt x="1258570" y="0"/>
                    <a:pt x="0" y="1144270"/>
                    <a:pt x="0" y="2917190"/>
                  </a:cubicBezTo>
                  <a:cubicBezTo>
                    <a:pt x="0" y="4175760"/>
                    <a:pt x="0" y="6350000"/>
                    <a:pt x="0" y="6350000"/>
                  </a:cubicBezTo>
                  <a:lnTo>
                    <a:pt x="2889250" y="6350000"/>
                  </a:lnTo>
                  <a:lnTo>
                    <a:pt x="5778500" y="6350000"/>
                  </a:lnTo>
                  <a:cubicBezTo>
                    <a:pt x="5778500" y="6350000"/>
                    <a:pt x="5778500" y="4175760"/>
                    <a:pt x="5778500" y="2917190"/>
                  </a:cubicBezTo>
                  <a:cubicBezTo>
                    <a:pt x="5778500" y="1144270"/>
                    <a:pt x="4519930" y="0"/>
                    <a:pt x="2889250" y="0"/>
                  </a:cubicBezTo>
                  <a:close/>
                </a:path>
              </a:pathLst>
            </a:custGeom>
            <a:blipFill>
              <a:blip r:embed="rId4"/>
              <a:stretch>
                <a:fillRect l="-32342" r="-32342"/>
              </a:stretch>
            </a:blipFill>
          </p:spPr>
        </p:sp>
        <p:sp>
          <p:nvSpPr>
            <p:cNvPr id="17" name="Freeform 17"/>
            <p:cNvSpPr/>
            <p:nvPr/>
          </p:nvSpPr>
          <p:spPr>
            <a:xfrm>
              <a:off x="0" y="0"/>
              <a:ext cx="5803900" cy="6375400"/>
            </a:xfrm>
            <a:custGeom>
              <a:avLst/>
              <a:gdLst/>
              <a:ahLst/>
              <a:cxnLst/>
              <a:rect l="l" t="t" r="r" b="b"/>
              <a:pathLst>
                <a:path w="5803900" h="6375400">
                  <a:moveTo>
                    <a:pt x="5803900" y="6375400"/>
                  </a:moveTo>
                  <a:lnTo>
                    <a:pt x="0" y="6375400"/>
                  </a:lnTo>
                  <a:lnTo>
                    <a:pt x="0" y="2929890"/>
                  </a:lnTo>
                  <a:cubicBezTo>
                    <a:pt x="0" y="2495550"/>
                    <a:pt x="74930" y="2089150"/>
                    <a:pt x="223520" y="1720850"/>
                  </a:cubicBezTo>
                  <a:cubicBezTo>
                    <a:pt x="365760" y="1367790"/>
                    <a:pt x="571500" y="1056640"/>
                    <a:pt x="836930" y="797560"/>
                  </a:cubicBezTo>
                  <a:cubicBezTo>
                    <a:pt x="1361440" y="283210"/>
                    <a:pt x="2095500" y="0"/>
                    <a:pt x="2901950" y="0"/>
                  </a:cubicBezTo>
                  <a:cubicBezTo>
                    <a:pt x="3708400" y="0"/>
                    <a:pt x="4441190" y="283210"/>
                    <a:pt x="4966970" y="797560"/>
                  </a:cubicBezTo>
                  <a:cubicBezTo>
                    <a:pt x="5232400" y="1056640"/>
                    <a:pt x="5438140" y="1367790"/>
                    <a:pt x="5580380" y="1722120"/>
                  </a:cubicBezTo>
                  <a:cubicBezTo>
                    <a:pt x="5728970" y="2090420"/>
                    <a:pt x="5803900" y="2496820"/>
                    <a:pt x="5803900" y="2931160"/>
                  </a:cubicBezTo>
                  <a:lnTo>
                    <a:pt x="5803900" y="6375400"/>
                  </a:lnTo>
                  <a:close/>
                  <a:moveTo>
                    <a:pt x="25400" y="6350000"/>
                  </a:moveTo>
                  <a:lnTo>
                    <a:pt x="5778500" y="6350000"/>
                  </a:lnTo>
                  <a:lnTo>
                    <a:pt x="5778500" y="2929890"/>
                  </a:lnTo>
                  <a:cubicBezTo>
                    <a:pt x="5778500" y="2499360"/>
                    <a:pt x="5703570" y="2095500"/>
                    <a:pt x="5557520" y="1731010"/>
                  </a:cubicBezTo>
                  <a:cubicBezTo>
                    <a:pt x="5416550" y="1380490"/>
                    <a:pt x="5212080" y="1073150"/>
                    <a:pt x="4949190" y="815340"/>
                  </a:cubicBezTo>
                  <a:cubicBezTo>
                    <a:pt x="4428490" y="306070"/>
                    <a:pt x="3700780" y="25400"/>
                    <a:pt x="2901950" y="25400"/>
                  </a:cubicBezTo>
                  <a:cubicBezTo>
                    <a:pt x="2103120" y="25400"/>
                    <a:pt x="1375410" y="306070"/>
                    <a:pt x="854710" y="815340"/>
                  </a:cubicBezTo>
                  <a:cubicBezTo>
                    <a:pt x="591820" y="1071880"/>
                    <a:pt x="387350" y="1380490"/>
                    <a:pt x="246380" y="1731010"/>
                  </a:cubicBezTo>
                  <a:cubicBezTo>
                    <a:pt x="100330" y="2095500"/>
                    <a:pt x="25400" y="2499360"/>
                    <a:pt x="25400" y="2929890"/>
                  </a:cubicBezTo>
                  <a:lnTo>
                    <a:pt x="25400" y="6350000"/>
                  </a:lnTo>
                  <a:close/>
                </a:path>
              </a:pathLst>
            </a:custGeom>
            <a:solidFill>
              <a:srgbClr val="456882"/>
            </a:solidFill>
          </p:spPr>
        </p:sp>
      </p:grpSp>
      <p:sp>
        <p:nvSpPr>
          <p:cNvPr id="18" name="TextBox 18"/>
          <p:cNvSpPr txBox="1"/>
          <p:nvPr/>
        </p:nvSpPr>
        <p:spPr>
          <a:xfrm>
            <a:off x="1895518" y="3451517"/>
            <a:ext cx="9153481" cy="47729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4202"/>
              </a:lnSpc>
            </a:pPr>
            <a:r>
              <a:rPr lang="en-US" sz="2400" dirty="0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Android </a:t>
            </a:r>
            <a:r>
              <a:rPr lang="en-US" sz="2400" dirty="0" err="1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merupakan</a:t>
            </a:r>
            <a:r>
              <a:rPr lang="en-US" sz="2400" dirty="0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</a:t>
            </a:r>
            <a:r>
              <a:rPr lang="en-US" sz="2400" dirty="0" err="1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sebuah</a:t>
            </a:r>
            <a:r>
              <a:rPr lang="en-US" sz="2400" dirty="0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</a:t>
            </a:r>
            <a:r>
              <a:rPr lang="en-US" sz="2400" dirty="0" err="1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sistem</a:t>
            </a:r>
            <a:r>
              <a:rPr lang="en-US" sz="2400" dirty="0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</a:t>
            </a:r>
            <a:r>
              <a:rPr lang="en-US" sz="2400" dirty="0" err="1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operasi</a:t>
            </a:r>
            <a:r>
              <a:rPr lang="en-US" sz="2400" dirty="0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mobile </a:t>
            </a:r>
            <a:r>
              <a:rPr lang="en-US" sz="2400" dirty="0" err="1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bersifat</a:t>
            </a:r>
            <a:r>
              <a:rPr lang="en-US" sz="2400" dirty="0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open source, </a:t>
            </a:r>
          </a:p>
          <a:p>
            <a:pPr algn="just">
              <a:lnSpc>
                <a:spcPts val="4202"/>
              </a:lnSpc>
            </a:pPr>
            <a:r>
              <a:rPr lang="en-US" sz="2400" dirty="0" err="1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berbasis</a:t>
            </a:r>
            <a:r>
              <a:rPr lang="en-US" sz="2400" dirty="0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pada kernel Linux </a:t>
            </a:r>
            <a:r>
              <a:rPr lang="en-US" sz="2400" dirty="0" err="1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dengan</a:t>
            </a:r>
            <a:r>
              <a:rPr lang="en-US" sz="2400" dirty="0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</a:t>
            </a:r>
            <a:r>
              <a:rPr lang="en-US" sz="2400" dirty="0" err="1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antarmuka</a:t>
            </a:r>
            <a:r>
              <a:rPr lang="en-US" sz="2400" dirty="0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touch screen (</a:t>
            </a:r>
            <a:r>
              <a:rPr lang="en-US" sz="2400" dirty="0" err="1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layar</a:t>
            </a:r>
            <a:r>
              <a:rPr lang="en-US" sz="2400" dirty="0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</a:t>
            </a:r>
          </a:p>
          <a:p>
            <a:pPr algn="just">
              <a:lnSpc>
                <a:spcPts val="4202"/>
              </a:lnSpc>
            </a:pPr>
            <a:r>
              <a:rPr lang="en-US" sz="2400" dirty="0" err="1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sentuh</a:t>
            </a:r>
            <a:r>
              <a:rPr lang="en-US" sz="2400" dirty="0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). </a:t>
            </a:r>
            <a:r>
              <a:rPr lang="en-US" sz="2400" dirty="0" err="1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Berdasarkan</a:t>
            </a:r>
            <a:r>
              <a:rPr lang="en-US" sz="2400" dirty="0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data </a:t>
            </a:r>
            <a:r>
              <a:rPr lang="en-US" sz="2400" dirty="0" err="1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dari</a:t>
            </a:r>
            <a:r>
              <a:rPr lang="en-US" sz="2400" dirty="0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</a:t>
            </a:r>
            <a:r>
              <a:rPr lang="en-US" sz="2400" dirty="0" err="1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statcounter</a:t>
            </a:r>
            <a:r>
              <a:rPr lang="en-US" sz="2400" dirty="0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</a:t>
            </a:r>
            <a:r>
              <a:rPr lang="en-US" sz="2400" dirty="0" err="1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GlobalStats</a:t>
            </a:r>
            <a:r>
              <a:rPr lang="en-US" sz="2400" dirty="0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“Mobile </a:t>
            </a:r>
          </a:p>
          <a:p>
            <a:pPr algn="just">
              <a:lnSpc>
                <a:spcPts val="4202"/>
              </a:lnSpc>
            </a:pPr>
            <a:r>
              <a:rPr lang="en-US" sz="2400" dirty="0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Operating System Market Share Worldwide – October 2020”, Android</a:t>
            </a:r>
          </a:p>
          <a:p>
            <a:pPr algn="just">
              <a:lnSpc>
                <a:spcPts val="4202"/>
              </a:lnSpc>
            </a:pPr>
            <a:r>
              <a:rPr lang="en-US" sz="2400" dirty="0" err="1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digunakan</a:t>
            </a:r>
            <a:r>
              <a:rPr lang="en-US" sz="2400" dirty="0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oleh 72,92% smartphone di dunia. </a:t>
            </a:r>
            <a:r>
              <a:rPr lang="en-US" sz="2400" dirty="0" err="1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Perangkat</a:t>
            </a:r>
            <a:r>
              <a:rPr lang="en-US" sz="2400" dirty="0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yang </a:t>
            </a:r>
          </a:p>
          <a:p>
            <a:pPr algn="just">
              <a:lnSpc>
                <a:spcPts val="4202"/>
              </a:lnSpc>
            </a:pPr>
            <a:r>
              <a:rPr lang="en-US" sz="2400" dirty="0" err="1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menggunakan</a:t>
            </a:r>
            <a:r>
              <a:rPr lang="en-US" sz="2400" dirty="0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</a:t>
            </a:r>
            <a:r>
              <a:rPr lang="en-US" sz="2400" dirty="0" err="1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sistem</a:t>
            </a:r>
            <a:r>
              <a:rPr lang="en-US" sz="2400" dirty="0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</a:t>
            </a:r>
            <a:r>
              <a:rPr lang="en-US" sz="2400" dirty="0" err="1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operasi</a:t>
            </a:r>
            <a:r>
              <a:rPr lang="en-US" sz="2400" dirty="0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Android </a:t>
            </a:r>
            <a:r>
              <a:rPr lang="en-US" sz="2400" dirty="0" err="1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antara</a:t>
            </a:r>
            <a:r>
              <a:rPr lang="en-US" sz="2400" dirty="0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lain </a:t>
            </a:r>
            <a:r>
              <a:rPr lang="en-US" sz="2400" dirty="0" err="1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telepon</a:t>
            </a:r>
            <a:r>
              <a:rPr lang="en-US" sz="2400" dirty="0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, tablet, TV, </a:t>
            </a:r>
          </a:p>
          <a:p>
            <a:pPr algn="just">
              <a:lnSpc>
                <a:spcPts val="4202"/>
              </a:lnSpc>
            </a:pPr>
            <a:r>
              <a:rPr lang="en-US" sz="2400" dirty="0" err="1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mobil</a:t>
            </a:r>
            <a:r>
              <a:rPr lang="en-US" sz="2400" dirty="0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, wearable device, </a:t>
            </a:r>
            <a:r>
              <a:rPr lang="en-US" sz="2400" dirty="0" err="1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dll</a:t>
            </a:r>
            <a:r>
              <a:rPr lang="en-US" sz="2400" dirty="0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. </a:t>
            </a:r>
            <a:r>
              <a:rPr lang="en-US" sz="2400" dirty="0" err="1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Interaksi</a:t>
            </a:r>
            <a:r>
              <a:rPr lang="en-US" sz="2400" dirty="0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</a:t>
            </a:r>
            <a:r>
              <a:rPr lang="en-US" sz="2400" dirty="0" err="1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pengguna</a:t>
            </a:r>
            <a:r>
              <a:rPr lang="en-US" sz="2400" dirty="0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</a:t>
            </a:r>
            <a:r>
              <a:rPr lang="en-US" sz="2400" dirty="0" err="1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dengan</a:t>
            </a:r>
            <a:r>
              <a:rPr lang="en-US" sz="2400" dirty="0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Android </a:t>
            </a:r>
            <a:r>
              <a:rPr lang="en-US" sz="2400" dirty="0" err="1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yaitu</a:t>
            </a:r>
            <a:r>
              <a:rPr lang="en-US" sz="2400" dirty="0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</a:t>
            </a:r>
          </a:p>
          <a:p>
            <a:pPr algn="just">
              <a:lnSpc>
                <a:spcPts val="4202"/>
              </a:lnSpc>
            </a:pPr>
            <a:r>
              <a:rPr lang="en-US" sz="2400" dirty="0" err="1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dengan</a:t>
            </a:r>
            <a:r>
              <a:rPr lang="en-US" sz="2400" dirty="0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</a:t>
            </a:r>
            <a:r>
              <a:rPr lang="en-US" sz="2400" dirty="0" err="1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menggunakan</a:t>
            </a:r>
            <a:r>
              <a:rPr lang="en-US" sz="2400" dirty="0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</a:t>
            </a:r>
            <a:r>
              <a:rPr lang="en-US" sz="2400" dirty="0" err="1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gerakan</a:t>
            </a:r>
            <a:r>
              <a:rPr lang="en-US" sz="2400" dirty="0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</a:t>
            </a:r>
            <a:r>
              <a:rPr lang="en-US" sz="2400" dirty="0" err="1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sentuhan</a:t>
            </a:r>
            <a:r>
              <a:rPr lang="en-US" sz="2400" dirty="0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</a:t>
            </a:r>
            <a:r>
              <a:rPr lang="en-US" sz="2400" dirty="0" err="1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yaitu</a:t>
            </a:r>
            <a:r>
              <a:rPr lang="en-US" sz="2400" dirty="0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swipe, tap, pinch (</a:t>
            </a:r>
            <a:r>
              <a:rPr lang="en-US" sz="2400" dirty="0" err="1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geser</a:t>
            </a:r>
            <a:r>
              <a:rPr lang="en-US" sz="2400" dirty="0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, </a:t>
            </a:r>
          </a:p>
          <a:p>
            <a:pPr algn="just">
              <a:lnSpc>
                <a:spcPts val="4202"/>
              </a:lnSpc>
            </a:pPr>
            <a:r>
              <a:rPr lang="en-US" sz="2400" dirty="0" err="1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ketuk</a:t>
            </a:r>
            <a:r>
              <a:rPr lang="en-US" sz="2400" dirty="0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, cubit).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895518" y="563930"/>
            <a:ext cx="10012220" cy="13646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186"/>
              </a:lnSpc>
            </a:pPr>
            <a:r>
              <a:rPr lang="en-US" sz="6000" b="1" dirty="0">
                <a:solidFill>
                  <a:srgbClr val="1B3C53"/>
                </a:solidFill>
                <a:latin typeface="Urdu Typesetting" panose="03020402040406030203" pitchFamily="66" charset="-78"/>
                <a:ea typeface="Playfair Display Bold"/>
                <a:cs typeface="Urdu Typesetting" panose="03020402040406030203" pitchFamily="66" charset="-78"/>
                <a:sym typeface="Playfair Display Bold"/>
              </a:rPr>
              <a:t>PERTEMUAN   1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895518" y="2383687"/>
            <a:ext cx="9686882" cy="5613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815"/>
              </a:lnSpc>
            </a:pPr>
            <a:r>
              <a:rPr lang="en-US" sz="3439" b="1" dirty="0">
                <a:solidFill>
                  <a:srgbClr val="7B4C26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1.1 </a:t>
            </a:r>
            <a:r>
              <a:rPr lang="en-US" sz="3439" b="1" dirty="0" err="1">
                <a:solidFill>
                  <a:srgbClr val="7B4C26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pengenalan</a:t>
            </a:r>
            <a:r>
              <a:rPr lang="en-US" sz="3439" b="1" dirty="0">
                <a:solidFill>
                  <a:srgbClr val="7B4C26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 </a:t>
            </a:r>
            <a:r>
              <a:rPr lang="en-US" sz="3439" b="1" dirty="0" err="1">
                <a:solidFill>
                  <a:srgbClr val="7B4C26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pemograman</a:t>
            </a:r>
            <a:r>
              <a:rPr lang="en-US" sz="3439" b="1" dirty="0">
                <a:solidFill>
                  <a:srgbClr val="7B4C26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 mobile android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16035642" y="9258300"/>
            <a:ext cx="982727" cy="636341"/>
            <a:chOff x="0" y="0"/>
            <a:chExt cx="258825" cy="167596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58825" cy="167596"/>
            </a:xfrm>
            <a:custGeom>
              <a:avLst/>
              <a:gdLst/>
              <a:ahLst/>
              <a:cxnLst/>
              <a:rect l="l" t="t" r="r" b="b"/>
              <a:pathLst>
                <a:path w="258825" h="167596">
                  <a:moveTo>
                    <a:pt x="83798" y="0"/>
                  </a:moveTo>
                  <a:lnTo>
                    <a:pt x="175027" y="0"/>
                  </a:lnTo>
                  <a:cubicBezTo>
                    <a:pt x="221308" y="0"/>
                    <a:pt x="258825" y="37518"/>
                    <a:pt x="258825" y="83798"/>
                  </a:cubicBezTo>
                  <a:lnTo>
                    <a:pt x="258825" y="83798"/>
                  </a:lnTo>
                  <a:cubicBezTo>
                    <a:pt x="258825" y="130078"/>
                    <a:pt x="221308" y="167596"/>
                    <a:pt x="175027" y="167596"/>
                  </a:cubicBezTo>
                  <a:lnTo>
                    <a:pt x="83798" y="167596"/>
                  </a:lnTo>
                  <a:cubicBezTo>
                    <a:pt x="37518" y="167596"/>
                    <a:pt x="0" y="130078"/>
                    <a:pt x="0" y="83798"/>
                  </a:cubicBezTo>
                  <a:lnTo>
                    <a:pt x="0" y="83798"/>
                  </a:lnTo>
                  <a:cubicBezTo>
                    <a:pt x="0" y="37518"/>
                    <a:pt x="37518" y="0"/>
                    <a:pt x="83798" y="0"/>
                  </a:cubicBezTo>
                  <a:close/>
                </a:path>
              </a:pathLst>
            </a:custGeom>
            <a:solidFill>
              <a:srgbClr val="D2C1B6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258825" cy="2056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6181145" y="9248775"/>
            <a:ext cx="691721" cy="4844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28"/>
              </a:lnSpc>
            </a:pPr>
            <a:r>
              <a:rPr lang="en-US" sz="2877" b="1">
                <a:solidFill>
                  <a:srgbClr val="1B3C53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02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17067659" y="9415048"/>
            <a:ext cx="2388751" cy="318171"/>
            <a:chOff x="0" y="0"/>
            <a:chExt cx="629136" cy="83798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629136" cy="83798"/>
            </a:xfrm>
            <a:custGeom>
              <a:avLst/>
              <a:gdLst/>
              <a:ahLst/>
              <a:cxnLst/>
              <a:rect l="l" t="t" r="r" b="b"/>
              <a:pathLst>
                <a:path w="629136" h="83798">
                  <a:moveTo>
                    <a:pt x="41899" y="0"/>
                  </a:moveTo>
                  <a:lnTo>
                    <a:pt x="587237" y="0"/>
                  </a:lnTo>
                  <a:cubicBezTo>
                    <a:pt x="598349" y="0"/>
                    <a:pt x="609007" y="4414"/>
                    <a:pt x="616864" y="12272"/>
                  </a:cubicBezTo>
                  <a:cubicBezTo>
                    <a:pt x="624722" y="20130"/>
                    <a:pt x="629136" y="30787"/>
                    <a:pt x="629136" y="41899"/>
                  </a:cubicBezTo>
                  <a:lnTo>
                    <a:pt x="629136" y="41899"/>
                  </a:lnTo>
                  <a:cubicBezTo>
                    <a:pt x="629136" y="53011"/>
                    <a:pt x="624722" y="63668"/>
                    <a:pt x="616864" y="71526"/>
                  </a:cubicBezTo>
                  <a:cubicBezTo>
                    <a:pt x="609007" y="79384"/>
                    <a:pt x="598349" y="83798"/>
                    <a:pt x="587237" y="83798"/>
                  </a:cubicBezTo>
                  <a:lnTo>
                    <a:pt x="41899" y="83798"/>
                  </a:lnTo>
                  <a:cubicBezTo>
                    <a:pt x="30787" y="83798"/>
                    <a:pt x="20130" y="79384"/>
                    <a:pt x="12272" y="71526"/>
                  </a:cubicBezTo>
                  <a:cubicBezTo>
                    <a:pt x="4414" y="63668"/>
                    <a:pt x="0" y="53011"/>
                    <a:pt x="0" y="41899"/>
                  </a:cubicBezTo>
                  <a:lnTo>
                    <a:pt x="0" y="41899"/>
                  </a:lnTo>
                  <a:cubicBezTo>
                    <a:pt x="0" y="30787"/>
                    <a:pt x="4414" y="20130"/>
                    <a:pt x="12272" y="12272"/>
                  </a:cubicBezTo>
                  <a:cubicBezTo>
                    <a:pt x="20130" y="4414"/>
                    <a:pt x="30787" y="0"/>
                    <a:pt x="41899" y="0"/>
                  </a:cubicBezTo>
                  <a:close/>
                </a:path>
              </a:pathLst>
            </a:custGeom>
            <a:solidFill>
              <a:srgbClr val="D2C1B6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0" y="-38100"/>
              <a:ext cx="629136" cy="1218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8" name="Freeform 28"/>
          <p:cNvSpPr/>
          <p:nvPr/>
        </p:nvSpPr>
        <p:spPr>
          <a:xfrm>
            <a:off x="12927848" y="1259969"/>
            <a:ext cx="2593176" cy="2088686"/>
          </a:xfrm>
          <a:custGeom>
            <a:avLst/>
            <a:gdLst/>
            <a:ahLst/>
            <a:cxnLst/>
            <a:rect l="l" t="t" r="r" b="b"/>
            <a:pathLst>
              <a:path w="2593176" h="2088686">
                <a:moveTo>
                  <a:pt x="0" y="0"/>
                </a:moveTo>
                <a:lnTo>
                  <a:pt x="2593176" y="0"/>
                </a:lnTo>
                <a:lnTo>
                  <a:pt x="2593176" y="2088686"/>
                </a:lnTo>
                <a:lnTo>
                  <a:pt x="0" y="208868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500045" y="773687"/>
            <a:ext cx="9981479" cy="421819"/>
            <a:chOff x="0" y="0"/>
            <a:chExt cx="2628867" cy="11109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628867" cy="111096"/>
            </a:xfrm>
            <a:custGeom>
              <a:avLst/>
              <a:gdLst/>
              <a:ahLst/>
              <a:cxnLst/>
              <a:rect l="l" t="t" r="r" b="b"/>
              <a:pathLst>
                <a:path w="2628867" h="111096">
                  <a:moveTo>
                    <a:pt x="0" y="0"/>
                  </a:moveTo>
                  <a:lnTo>
                    <a:pt x="2628867" y="0"/>
                  </a:lnTo>
                  <a:lnTo>
                    <a:pt x="2628867" y="111096"/>
                  </a:lnTo>
                  <a:lnTo>
                    <a:pt x="0" y="111096"/>
                  </a:lnTo>
                  <a:close/>
                </a:path>
              </a:pathLst>
            </a:custGeom>
            <a:solidFill>
              <a:srgbClr val="D2C1B6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628867" cy="1491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3577096" y="5040630"/>
            <a:ext cx="2654707" cy="3073871"/>
          </a:xfrm>
          <a:custGeom>
            <a:avLst/>
            <a:gdLst/>
            <a:ahLst/>
            <a:cxnLst/>
            <a:rect l="l" t="t" r="r" b="b"/>
            <a:pathLst>
              <a:path w="2654707" h="3073871">
                <a:moveTo>
                  <a:pt x="0" y="0"/>
                </a:moveTo>
                <a:lnTo>
                  <a:pt x="2654707" y="0"/>
                </a:lnTo>
                <a:lnTo>
                  <a:pt x="2654707" y="3073871"/>
                </a:lnTo>
                <a:lnTo>
                  <a:pt x="0" y="30738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771307" y="-1484092"/>
            <a:ext cx="3685104" cy="2968184"/>
          </a:xfrm>
          <a:custGeom>
            <a:avLst/>
            <a:gdLst/>
            <a:ahLst/>
            <a:cxnLst/>
            <a:rect l="l" t="t" r="r" b="b"/>
            <a:pathLst>
              <a:path w="3685104" h="2968184">
                <a:moveTo>
                  <a:pt x="0" y="0"/>
                </a:moveTo>
                <a:lnTo>
                  <a:pt x="3685104" y="0"/>
                </a:lnTo>
                <a:lnTo>
                  <a:pt x="3685104" y="2968184"/>
                </a:lnTo>
                <a:lnTo>
                  <a:pt x="0" y="29681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6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-837479" y="9083135"/>
            <a:ext cx="9981479" cy="175165"/>
            <a:chOff x="0" y="0"/>
            <a:chExt cx="2628867" cy="4613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628867" cy="46134"/>
            </a:xfrm>
            <a:custGeom>
              <a:avLst/>
              <a:gdLst/>
              <a:ahLst/>
              <a:cxnLst/>
              <a:rect l="l" t="t" r="r" b="b"/>
              <a:pathLst>
                <a:path w="2628867" h="46134">
                  <a:moveTo>
                    <a:pt x="0" y="0"/>
                  </a:moveTo>
                  <a:lnTo>
                    <a:pt x="2628867" y="0"/>
                  </a:lnTo>
                  <a:lnTo>
                    <a:pt x="2628867" y="46134"/>
                  </a:lnTo>
                  <a:lnTo>
                    <a:pt x="0" y="46134"/>
                  </a:lnTo>
                  <a:close/>
                </a:path>
              </a:pathLst>
            </a:custGeom>
            <a:solidFill>
              <a:srgbClr val="456882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628867" cy="842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0532391" y="5040630"/>
            <a:ext cx="4372059" cy="5246370"/>
            <a:chOff x="0" y="0"/>
            <a:chExt cx="11062970" cy="1327531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1062970" cy="13275311"/>
            </a:xfrm>
            <a:custGeom>
              <a:avLst/>
              <a:gdLst/>
              <a:ahLst/>
              <a:cxnLst/>
              <a:rect l="l" t="t" r="r" b="b"/>
              <a:pathLst>
                <a:path w="11062970" h="13275311">
                  <a:moveTo>
                    <a:pt x="6649720" y="0"/>
                  </a:moveTo>
                  <a:lnTo>
                    <a:pt x="11062970" y="0"/>
                  </a:lnTo>
                  <a:lnTo>
                    <a:pt x="11062970" y="13275311"/>
                  </a:lnTo>
                  <a:lnTo>
                    <a:pt x="0" y="13275311"/>
                  </a:lnTo>
                  <a:lnTo>
                    <a:pt x="0" y="6649720"/>
                  </a:lnTo>
                  <a:cubicBezTo>
                    <a:pt x="0" y="2976880"/>
                    <a:pt x="2976880" y="0"/>
                    <a:pt x="6649720" y="0"/>
                  </a:cubicBezTo>
                  <a:close/>
                </a:path>
              </a:pathLst>
            </a:custGeom>
            <a:blipFill>
              <a:blip r:embed="rId6"/>
              <a:stretch>
                <a:fillRect l="-8849" r="-70983"/>
              </a:stretch>
            </a:blipFill>
          </p:spPr>
        </p:sp>
      </p:grpSp>
      <p:sp>
        <p:nvSpPr>
          <p:cNvPr id="13" name="Freeform 13"/>
          <p:cNvSpPr/>
          <p:nvPr/>
        </p:nvSpPr>
        <p:spPr>
          <a:xfrm rot="-5267873">
            <a:off x="-166542" y="-829239"/>
            <a:ext cx="2100757" cy="2824979"/>
          </a:xfrm>
          <a:custGeom>
            <a:avLst/>
            <a:gdLst/>
            <a:ahLst/>
            <a:cxnLst/>
            <a:rect l="l" t="t" r="r" b="b"/>
            <a:pathLst>
              <a:path w="2100757" h="2824979">
                <a:moveTo>
                  <a:pt x="0" y="0"/>
                </a:moveTo>
                <a:lnTo>
                  <a:pt x="2100757" y="0"/>
                </a:lnTo>
                <a:lnTo>
                  <a:pt x="2100757" y="2824980"/>
                </a:lnTo>
                <a:lnTo>
                  <a:pt x="0" y="282498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grpSp>
        <p:nvGrpSpPr>
          <p:cNvPr id="14" name="Group 14"/>
          <p:cNvGrpSpPr/>
          <p:nvPr/>
        </p:nvGrpSpPr>
        <p:grpSpPr>
          <a:xfrm>
            <a:off x="933460" y="2005117"/>
            <a:ext cx="8593089" cy="3300159"/>
            <a:chOff x="0" y="0"/>
            <a:chExt cx="2628867" cy="68734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628867" cy="687341"/>
            </a:xfrm>
            <a:custGeom>
              <a:avLst/>
              <a:gdLst/>
              <a:ahLst/>
              <a:cxnLst/>
              <a:rect l="l" t="t" r="r" b="b"/>
              <a:pathLst>
                <a:path w="2628867" h="687341">
                  <a:moveTo>
                    <a:pt x="36455" y="0"/>
                  </a:moveTo>
                  <a:lnTo>
                    <a:pt x="2592412" y="0"/>
                  </a:lnTo>
                  <a:cubicBezTo>
                    <a:pt x="2602081" y="0"/>
                    <a:pt x="2611353" y="3841"/>
                    <a:pt x="2618190" y="10677"/>
                  </a:cubicBezTo>
                  <a:cubicBezTo>
                    <a:pt x="2625026" y="17514"/>
                    <a:pt x="2628867" y="26786"/>
                    <a:pt x="2628867" y="36455"/>
                  </a:cubicBezTo>
                  <a:lnTo>
                    <a:pt x="2628867" y="650887"/>
                  </a:lnTo>
                  <a:cubicBezTo>
                    <a:pt x="2628867" y="671020"/>
                    <a:pt x="2612546" y="687341"/>
                    <a:pt x="2592412" y="687341"/>
                  </a:cubicBezTo>
                  <a:lnTo>
                    <a:pt x="36455" y="687341"/>
                  </a:lnTo>
                  <a:cubicBezTo>
                    <a:pt x="26786" y="687341"/>
                    <a:pt x="17514" y="683500"/>
                    <a:pt x="10677" y="676664"/>
                  </a:cubicBezTo>
                  <a:cubicBezTo>
                    <a:pt x="3841" y="669827"/>
                    <a:pt x="0" y="660555"/>
                    <a:pt x="0" y="650887"/>
                  </a:cubicBezTo>
                  <a:lnTo>
                    <a:pt x="0" y="36455"/>
                  </a:lnTo>
                  <a:cubicBezTo>
                    <a:pt x="0" y="26786"/>
                    <a:pt x="3841" y="17514"/>
                    <a:pt x="10677" y="10677"/>
                  </a:cubicBezTo>
                  <a:cubicBezTo>
                    <a:pt x="17514" y="3841"/>
                    <a:pt x="26786" y="0"/>
                    <a:pt x="36455" y="0"/>
                  </a:cubicBezTo>
                  <a:close/>
                </a:path>
              </a:pathLst>
            </a:custGeom>
            <a:solidFill>
              <a:srgbClr val="D2C1B6">
                <a:alpha val="72941"/>
              </a:srgbClr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2628867" cy="7254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326150" y="2304644"/>
            <a:ext cx="8351250" cy="25551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376"/>
              </a:lnSpc>
            </a:pPr>
            <a:r>
              <a:rPr lang="en-US" sz="2000" dirty="0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1. Linux Kernel</a:t>
            </a:r>
          </a:p>
          <a:p>
            <a:pPr algn="just">
              <a:lnSpc>
                <a:spcPts val="3376"/>
              </a:lnSpc>
            </a:pPr>
            <a:r>
              <a:rPr lang="en-US" sz="2000" dirty="0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2. Hardware Abstraction Layer (HAL)</a:t>
            </a:r>
          </a:p>
          <a:p>
            <a:pPr algn="just">
              <a:lnSpc>
                <a:spcPts val="3376"/>
              </a:lnSpc>
            </a:pPr>
            <a:r>
              <a:rPr lang="en-US" sz="2000" dirty="0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3. Android Runtime</a:t>
            </a:r>
          </a:p>
          <a:p>
            <a:pPr algn="just">
              <a:lnSpc>
                <a:spcPts val="3376"/>
              </a:lnSpc>
            </a:pPr>
            <a:r>
              <a:rPr lang="en-US" sz="2000" dirty="0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4. Pustaka C/C++ </a:t>
            </a:r>
            <a:r>
              <a:rPr lang="en-US" sz="2000" dirty="0" err="1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Bawaan</a:t>
            </a:r>
            <a:r>
              <a:rPr lang="en-US" sz="2000" dirty="0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(C/C++ Libraries)</a:t>
            </a:r>
          </a:p>
          <a:p>
            <a:pPr algn="just">
              <a:lnSpc>
                <a:spcPts val="3376"/>
              </a:lnSpc>
            </a:pPr>
            <a:r>
              <a:rPr lang="en-US" sz="2000" dirty="0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5. </a:t>
            </a:r>
            <a:r>
              <a:rPr lang="en-US" sz="2000" dirty="0" err="1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Kerangka</a:t>
            </a:r>
            <a:r>
              <a:rPr lang="en-US" sz="2000" dirty="0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</a:t>
            </a:r>
            <a:r>
              <a:rPr lang="en-US" sz="2000" dirty="0" err="1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Kerja</a:t>
            </a:r>
            <a:r>
              <a:rPr lang="en-US" sz="2000" dirty="0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API Jawa (Java API Framework)</a:t>
            </a:r>
          </a:p>
          <a:p>
            <a:pPr algn="just">
              <a:lnSpc>
                <a:spcPts val="3376"/>
              </a:lnSpc>
            </a:pPr>
            <a:r>
              <a:rPr lang="en-US" sz="2000" dirty="0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6. </a:t>
            </a:r>
            <a:r>
              <a:rPr lang="en-US" sz="2000" dirty="0" err="1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Aplikasi</a:t>
            </a:r>
            <a:r>
              <a:rPr lang="en-US" sz="2000" dirty="0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</a:t>
            </a:r>
            <a:r>
              <a:rPr lang="en-US" sz="2000" dirty="0" err="1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Sistem</a:t>
            </a:r>
            <a:r>
              <a:rPr lang="en-US" sz="2000" dirty="0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(System apps)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57200" y="1418529"/>
            <a:ext cx="9715500" cy="5048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50309" lvl="1" indent="-325154" algn="l">
              <a:lnSpc>
                <a:spcPts val="4216"/>
              </a:lnSpc>
              <a:buFont typeface="Arial"/>
              <a:buChar char="•"/>
            </a:pPr>
            <a:r>
              <a:rPr lang="en-US" sz="3012" b="1" dirty="0">
                <a:solidFill>
                  <a:srgbClr val="7B4C26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Stack </a:t>
            </a:r>
            <a:r>
              <a:rPr lang="en-US" sz="3012" b="1" dirty="0" err="1">
                <a:solidFill>
                  <a:srgbClr val="7B4C26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perangkat</a:t>
            </a:r>
            <a:r>
              <a:rPr lang="en-US" sz="3012" b="1" dirty="0">
                <a:solidFill>
                  <a:srgbClr val="7B4C26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 </a:t>
            </a:r>
            <a:r>
              <a:rPr lang="en-US" sz="3012" b="1" dirty="0" err="1">
                <a:solidFill>
                  <a:srgbClr val="7B4C26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lunak</a:t>
            </a:r>
            <a:r>
              <a:rPr lang="en-US" sz="3012" b="1" dirty="0">
                <a:solidFill>
                  <a:srgbClr val="7B4C26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 android </a:t>
            </a:r>
            <a:r>
              <a:rPr lang="en-US" sz="3012" b="1" dirty="0" err="1">
                <a:solidFill>
                  <a:srgbClr val="7B4C26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terdiri</a:t>
            </a:r>
            <a:r>
              <a:rPr lang="en-US" sz="3012" b="1" dirty="0">
                <a:solidFill>
                  <a:srgbClr val="7B4C26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 </a:t>
            </a:r>
            <a:r>
              <a:rPr lang="en-US" sz="3012" b="1" dirty="0" err="1">
                <a:solidFill>
                  <a:srgbClr val="7B4C26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dari</a:t>
            </a:r>
            <a:r>
              <a:rPr lang="en-US" sz="3012" b="1" dirty="0">
                <a:solidFill>
                  <a:srgbClr val="7B4C26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 :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-166542" y="9429750"/>
            <a:ext cx="9981479" cy="207989"/>
            <a:chOff x="0" y="0"/>
            <a:chExt cx="2628867" cy="5477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628867" cy="54779"/>
            </a:xfrm>
            <a:custGeom>
              <a:avLst/>
              <a:gdLst/>
              <a:ahLst/>
              <a:cxnLst/>
              <a:rect l="l" t="t" r="r" b="b"/>
              <a:pathLst>
                <a:path w="2628867" h="54779">
                  <a:moveTo>
                    <a:pt x="0" y="0"/>
                  </a:moveTo>
                  <a:lnTo>
                    <a:pt x="2628867" y="0"/>
                  </a:lnTo>
                  <a:lnTo>
                    <a:pt x="2628867" y="54779"/>
                  </a:lnTo>
                  <a:lnTo>
                    <a:pt x="0" y="54779"/>
                  </a:lnTo>
                  <a:close/>
                </a:path>
              </a:pathLst>
            </a:custGeom>
            <a:solidFill>
              <a:srgbClr val="1B3C53"/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2628867" cy="928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6035642" y="9258300"/>
            <a:ext cx="982727" cy="636341"/>
            <a:chOff x="0" y="0"/>
            <a:chExt cx="258825" cy="167596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258825" cy="167596"/>
            </a:xfrm>
            <a:custGeom>
              <a:avLst/>
              <a:gdLst/>
              <a:ahLst/>
              <a:cxnLst/>
              <a:rect l="l" t="t" r="r" b="b"/>
              <a:pathLst>
                <a:path w="258825" h="167596">
                  <a:moveTo>
                    <a:pt x="83798" y="0"/>
                  </a:moveTo>
                  <a:lnTo>
                    <a:pt x="175027" y="0"/>
                  </a:lnTo>
                  <a:cubicBezTo>
                    <a:pt x="221308" y="0"/>
                    <a:pt x="258825" y="37518"/>
                    <a:pt x="258825" y="83798"/>
                  </a:cubicBezTo>
                  <a:lnTo>
                    <a:pt x="258825" y="83798"/>
                  </a:lnTo>
                  <a:cubicBezTo>
                    <a:pt x="258825" y="130078"/>
                    <a:pt x="221308" y="167596"/>
                    <a:pt x="175027" y="167596"/>
                  </a:cubicBezTo>
                  <a:lnTo>
                    <a:pt x="83798" y="167596"/>
                  </a:lnTo>
                  <a:cubicBezTo>
                    <a:pt x="37518" y="167596"/>
                    <a:pt x="0" y="130078"/>
                    <a:pt x="0" y="83798"/>
                  </a:cubicBezTo>
                  <a:lnTo>
                    <a:pt x="0" y="83798"/>
                  </a:lnTo>
                  <a:cubicBezTo>
                    <a:pt x="0" y="37518"/>
                    <a:pt x="37518" y="0"/>
                    <a:pt x="83798" y="0"/>
                  </a:cubicBezTo>
                  <a:close/>
                </a:path>
              </a:pathLst>
            </a:custGeom>
            <a:solidFill>
              <a:srgbClr val="D2C1B6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0" y="-38100"/>
              <a:ext cx="258825" cy="2056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16181145" y="9248775"/>
            <a:ext cx="691721" cy="4844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28"/>
              </a:lnSpc>
            </a:pPr>
            <a:r>
              <a:rPr lang="en-US" sz="2877" b="1">
                <a:solidFill>
                  <a:srgbClr val="1B3C53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03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17067659" y="9415048"/>
            <a:ext cx="2388751" cy="318171"/>
            <a:chOff x="0" y="0"/>
            <a:chExt cx="629136" cy="83798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629136" cy="83798"/>
            </a:xfrm>
            <a:custGeom>
              <a:avLst/>
              <a:gdLst/>
              <a:ahLst/>
              <a:cxnLst/>
              <a:rect l="l" t="t" r="r" b="b"/>
              <a:pathLst>
                <a:path w="629136" h="83798">
                  <a:moveTo>
                    <a:pt x="41899" y="0"/>
                  </a:moveTo>
                  <a:lnTo>
                    <a:pt x="587237" y="0"/>
                  </a:lnTo>
                  <a:cubicBezTo>
                    <a:pt x="598349" y="0"/>
                    <a:pt x="609007" y="4414"/>
                    <a:pt x="616864" y="12272"/>
                  </a:cubicBezTo>
                  <a:cubicBezTo>
                    <a:pt x="624722" y="20130"/>
                    <a:pt x="629136" y="30787"/>
                    <a:pt x="629136" y="41899"/>
                  </a:cubicBezTo>
                  <a:lnTo>
                    <a:pt x="629136" y="41899"/>
                  </a:lnTo>
                  <a:cubicBezTo>
                    <a:pt x="629136" y="53011"/>
                    <a:pt x="624722" y="63668"/>
                    <a:pt x="616864" y="71526"/>
                  </a:cubicBezTo>
                  <a:cubicBezTo>
                    <a:pt x="609007" y="79384"/>
                    <a:pt x="598349" y="83798"/>
                    <a:pt x="587237" y="83798"/>
                  </a:cubicBezTo>
                  <a:lnTo>
                    <a:pt x="41899" y="83798"/>
                  </a:lnTo>
                  <a:cubicBezTo>
                    <a:pt x="30787" y="83798"/>
                    <a:pt x="20130" y="79384"/>
                    <a:pt x="12272" y="71526"/>
                  </a:cubicBezTo>
                  <a:cubicBezTo>
                    <a:pt x="4414" y="63668"/>
                    <a:pt x="0" y="53011"/>
                    <a:pt x="0" y="41899"/>
                  </a:cubicBezTo>
                  <a:lnTo>
                    <a:pt x="0" y="41899"/>
                  </a:lnTo>
                  <a:cubicBezTo>
                    <a:pt x="0" y="30787"/>
                    <a:pt x="4414" y="20130"/>
                    <a:pt x="12272" y="12272"/>
                  </a:cubicBezTo>
                  <a:cubicBezTo>
                    <a:pt x="20130" y="4414"/>
                    <a:pt x="30787" y="0"/>
                    <a:pt x="41899" y="0"/>
                  </a:cubicBezTo>
                  <a:close/>
                </a:path>
              </a:pathLst>
            </a:custGeom>
            <a:solidFill>
              <a:srgbClr val="D2C1B6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0" y="-38100"/>
              <a:ext cx="629136" cy="1218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4" name="TextBox 22">
            <a:extLst>
              <a:ext uri="{FF2B5EF4-FFF2-40B4-BE49-F238E27FC236}">
                <a16:creationId xmlns:a16="http://schemas.microsoft.com/office/drawing/2014/main" id="{1E9CADF5-11B2-5D23-2BD2-53291CCB52F8}"/>
              </a:ext>
            </a:extLst>
          </p:cNvPr>
          <p:cNvSpPr txBox="1"/>
          <p:nvPr/>
        </p:nvSpPr>
        <p:spPr>
          <a:xfrm>
            <a:off x="0" y="5546330"/>
            <a:ext cx="10654748" cy="4575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25155" lvl="1">
              <a:lnSpc>
                <a:spcPts val="4216"/>
              </a:lnSpc>
            </a:pPr>
            <a:r>
              <a:rPr lang="en-US" sz="1600" b="1" dirty="0" err="1">
                <a:solidFill>
                  <a:srgbClr val="7B4C26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Lingkungan</a:t>
            </a:r>
            <a:r>
              <a:rPr lang="en-US" sz="1600" b="1" dirty="0">
                <a:solidFill>
                  <a:srgbClr val="7B4C26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 </a:t>
            </a:r>
            <a:r>
              <a:rPr lang="en-US" sz="1600" b="1" dirty="0" err="1">
                <a:solidFill>
                  <a:srgbClr val="7B4C26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Pengembangan</a:t>
            </a:r>
            <a:r>
              <a:rPr lang="en-US" sz="1600" b="1" dirty="0">
                <a:solidFill>
                  <a:srgbClr val="7B4C26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 </a:t>
            </a:r>
            <a:r>
              <a:rPr lang="en-US" sz="1600" b="1" dirty="0" err="1">
                <a:solidFill>
                  <a:srgbClr val="7B4C26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Aplikasi</a:t>
            </a:r>
            <a:r>
              <a:rPr lang="en-US" sz="1600" b="1" dirty="0">
                <a:solidFill>
                  <a:srgbClr val="7B4C26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 Android Alat </a:t>
            </a:r>
            <a:r>
              <a:rPr lang="en-US" sz="1600" b="1" dirty="0" err="1">
                <a:solidFill>
                  <a:srgbClr val="7B4C26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pengembangan</a:t>
            </a:r>
            <a:r>
              <a:rPr lang="en-US" sz="1600" b="1" dirty="0">
                <a:solidFill>
                  <a:srgbClr val="7B4C26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 </a:t>
            </a:r>
            <a:r>
              <a:rPr lang="en-US" sz="1600" b="1" dirty="0" err="1">
                <a:solidFill>
                  <a:srgbClr val="7B4C26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aplikasi</a:t>
            </a:r>
            <a:r>
              <a:rPr lang="en-US" sz="1600" b="1" dirty="0">
                <a:solidFill>
                  <a:srgbClr val="7B4C26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 Android </a:t>
            </a:r>
            <a:r>
              <a:rPr lang="en-US" sz="1600" b="1" dirty="0" err="1">
                <a:solidFill>
                  <a:srgbClr val="7B4C26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terdiri</a:t>
            </a:r>
            <a:r>
              <a:rPr lang="en-US" sz="1600" b="1" dirty="0">
                <a:solidFill>
                  <a:srgbClr val="7B4C26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 </a:t>
            </a:r>
            <a:r>
              <a:rPr lang="en-US" sz="1600" b="1" dirty="0" err="1">
                <a:solidFill>
                  <a:srgbClr val="7B4C26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dari</a:t>
            </a:r>
            <a:r>
              <a:rPr lang="en-US" sz="1600" b="1" dirty="0">
                <a:solidFill>
                  <a:srgbClr val="7B4C26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:</a:t>
            </a:r>
          </a:p>
        </p:txBody>
      </p:sp>
      <p:grpSp>
        <p:nvGrpSpPr>
          <p:cNvPr id="35" name="Group 14">
            <a:extLst>
              <a:ext uri="{FF2B5EF4-FFF2-40B4-BE49-F238E27FC236}">
                <a16:creationId xmlns:a16="http://schemas.microsoft.com/office/drawing/2014/main" id="{7CDC337C-6D6E-C31E-87A4-3F7A86D84704}"/>
              </a:ext>
            </a:extLst>
          </p:cNvPr>
          <p:cNvGrpSpPr/>
          <p:nvPr/>
        </p:nvGrpSpPr>
        <p:grpSpPr>
          <a:xfrm>
            <a:off x="883837" y="6269817"/>
            <a:ext cx="7421964" cy="2194997"/>
            <a:chOff x="0" y="0"/>
            <a:chExt cx="2628867" cy="687341"/>
          </a:xfrm>
        </p:grpSpPr>
        <p:sp>
          <p:nvSpPr>
            <p:cNvPr id="36" name="Freeform 15">
              <a:extLst>
                <a:ext uri="{FF2B5EF4-FFF2-40B4-BE49-F238E27FC236}">
                  <a16:creationId xmlns:a16="http://schemas.microsoft.com/office/drawing/2014/main" id="{34AB6C08-AD88-1E38-54EF-9061468ABF38}"/>
                </a:ext>
              </a:extLst>
            </p:cNvPr>
            <p:cNvSpPr/>
            <p:nvPr/>
          </p:nvSpPr>
          <p:spPr>
            <a:xfrm>
              <a:off x="0" y="0"/>
              <a:ext cx="2628867" cy="687341"/>
            </a:xfrm>
            <a:custGeom>
              <a:avLst/>
              <a:gdLst/>
              <a:ahLst/>
              <a:cxnLst/>
              <a:rect l="l" t="t" r="r" b="b"/>
              <a:pathLst>
                <a:path w="2628867" h="687341">
                  <a:moveTo>
                    <a:pt x="36455" y="0"/>
                  </a:moveTo>
                  <a:lnTo>
                    <a:pt x="2592412" y="0"/>
                  </a:lnTo>
                  <a:cubicBezTo>
                    <a:pt x="2602081" y="0"/>
                    <a:pt x="2611353" y="3841"/>
                    <a:pt x="2618190" y="10677"/>
                  </a:cubicBezTo>
                  <a:cubicBezTo>
                    <a:pt x="2625026" y="17514"/>
                    <a:pt x="2628867" y="26786"/>
                    <a:pt x="2628867" y="36455"/>
                  </a:cubicBezTo>
                  <a:lnTo>
                    <a:pt x="2628867" y="650887"/>
                  </a:lnTo>
                  <a:cubicBezTo>
                    <a:pt x="2628867" y="671020"/>
                    <a:pt x="2612546" y="687341"/>
                    <a:pt x="2592412" y="687341"/>
                  </a:cubicBezTo>
                  <a:lnTo>
                    <a:pt x="36455" y="687341"/>
                  </a:lnTo>
                  <a:cubicBezTo>
                    <a:pt x="26786" y="687341"/>
                    <a:pt x="17514" y="683500"/>
                    <a:pt x="10677" y="676664"/>
                  </a:cubicBezTo>
                  <a:cubicBezTo>
                    <a:pt x="3841" y="669827"/>
                    <a:pt x="0" y="660555"/>
                    <a:pt x="0" y="650887"/>
                  </a:cubicBezTo>
                  <a:lnTo>
                    <a:pt x="0" y="36455"/>
                  </a:lnTo>
                  <a:cubicBezTo>
                    <a:pt x="0" y="26786"/>
                    <a:pt x="3841" y="17514"/>
                    <a:pt x="10677" y="10677"/>
                  </a:cubicBezTo>
                  <a:cubicBezTo>
                    <a:pt x="17514" y="3841"/>
                    <a:pt x="26786" y="0"/>
                    <a:pt x="36455" y="0"/>
                  </a:cubicBezTo>
                  <a:close/>
                </a:path>
              </a:pathLst>
            </a:custGeom>
            <a:solidFill>
              <a:srgbClr val="D2C1B6">
                <a:alpha val="72941"/>
              </a:srgbClr>
            </a:solidFill>
          </p:spPr>
        </p:sp>
        <p:sp>
          <p:nvSpPr>
            <p:cNvPr id="37" name="TextBox 16">
              <a:extLst>
                <a:ext uri="{FF2B5EF4-FFF2-40B4-BE49-F238E27FC236}">
                  <a16:creationId xmlns:a16="http://schemas.microsoft.com/office/drawing/2014/main" id="{B8D31784-757A-FA6A-029B-F5491AF9DF7B}"/>
                </a:ext>
              </a:extLst>
            </p:cNvPr>
            <p:cNvSpPr txBox="1"/>
            <p:nvPr/>
          </p:nvSpPr>
          <p:spPr>
            <a:xfrm>
              <a:off x="0" y="-38100"/>
              <a:ext cx="2628867" cy="7254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8" name="TextBox 17">
            <a:extLst>
              <a:ext uri="{FF2B5EF4-FFF2-40B4-BE49-F238E27FC236}">
                <a16:creationId xmlns:a16="http://schemas.microsoft.com/office/drawing/2014/main" id="{794C3B21-4747-13D3-4DF5-34252C86B7B0}"/>
              </a:ext>
            </a:extLst>
          </p:cNvPr>
          <p:cNvSpPr txBox="1"/>
          <p:nvPr/>
        </p:nvSpPr>
        <p:spPr>
          <a:xfrm>
            <a:off x="1380319" y="6828016"/>
            <a:ext cx="8351250" cy="12591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376"/>
              </a:lnSpc>
            </a:pPr>
            <a:r>
              <a:rPr lang="en-US" sz="2000" dirty="0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1. Java Development Kit (JDK)</a:t>
            </a:r>
          </a:p>
          <a:p>
            <a:pPr algn="just">
              <a:lnSpc>
                <a:spcPts val="3376"/>
              </a:lnSpc>
            </a:pPr>
            <a:r>
              <a:rPr lang="en-US" sz="2000" dirty="0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2. Android Studio</a:t>
            </a:r>
          </a:p>
          <a:p>
            <a:pPr algn="just">
              <a:lnSpc>
                <a:spcPts val="3376"/>
              </a:lnSpc>
            </a:pPr>
            <a:r>
              <a:rPr lang="en-US" sz="2000" dirty="0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3. Android SDK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98058" y="1028700"/>
            <a:ext cx="1965454" cy="835863"/>
            <a:chOff x="0" y="0"/>
            <a:chExt cx="517651" cy="22014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17651" cy="220145"/>
            </a:xfrm>
            <a:custGeom>
              <a:avLst/>
              <a:gdLst/>
              <a:ahLst/>
              <a:cxnLst/>
              <a:rect l="l" t="t" r="r" b="b"/>
              <a:pathLst>
                <a:path w="517651" h="220145">
                  <a:moveTo>
                    <a:pt x="0" y="0"/>
                  </a:moveTo>
                  <a:lnTo>
                    <a:pt x="517651" y="0"/>
                  </a:lnTo>
                  <a:lnTo>
                    <a:pt x="517651" y="220145"/>
                  </a:lnTo>
                  <a:lnTo>
                    <a:pt x="0" y="220145"/>
                  </a:lnTo>
                  <a:close/>
                </a:path>
              </a:pathLst>
            </a:custGeom>
            <a:solidFill>
              <a:srgbClr val="456882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17651" cy="2582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6023207">
            <a:off x="12193187" y="5416409"/>
            <a:ext cx="9359356" cy="2308481"/>
            <a:chOff x="0" y="0"/>
            <a:chExt cx="2465016" cy="60799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65016" cy="607995"/>
            </a:xfrm>
            <a:custGeom>
              <a:avLst/>
              <a:gdLst/>
              <a:ahLst/>
              <a:cxnLst/>
              <a:rect l="l" t="t" r="r" b="b"/>
              <a:pathLst>
                <a:path w="2465016" h="607995">
                  <a:moveTo>
                    <a:pt x="0" y="0"/>
                  </a:moveTo>
                  <a:lnTo>
                    <a:pt x="2465016" y="0"/>
                  </a:lnTo>
                  <a:lnTo>
                    <a:pt x="2465016" y="607995"/>
                  </a:lnTo>
                  <a:lnTo>
                    <a:pt x="0" y="607995"/>
                  </a:lnTo>
                  <a:close/>
                </a:path>
              </a:pathLst>
            </a:custGeom>
            <a:solidFill>
              <a:srgbClr val="456882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465016" cy="6460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 rot="3587113">
            <a:off x="14030879" y="512781"/>
            <a:ext cx="5331404" cy="2197724"/>
            <a:chOff x="0" y="0"/>
            <a:chExt cx="1404156" cy="57882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404156" cy="578824"/>
            </a:xfrm>
            <a:custGeom>
              <a:avLst/>
              <a:gdLst/>
              <a:ahLst/>
              <a:cxnLst/>
              <a:rect l="l" t="t" r="r" b="b"/>
              <a:pathLst>
                <a:path w="1404156" h="578824">
                  <a:moveTo>
                    <a:pt x="0" y="0"/>
                  </a:moveTo>
                  <a:lnTo>
                    <a:pt x="1404156" y="0"/>
                  </a:lnTo>
                  <a:lnTo>
                    <a:pt x="1404156" y="578824"/>
                  </a:lnTo>
                  <a:lnTo>
                    <a:pt x="0" y="578824"/>
                  </a:lnTo>
                  <a:close/>
                </a:path>
              </a:pathLst>
            </a:custGeom>
            <a:solidFill>
              <a:srgbClr val="D2C1B6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404156" cy="6169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 rot="-10800000">
            <a:off x="-298058" y="8663355"/>
            <a:ext cx="19149961" cy="2308481"/>
            <a:chOff x="0" y="0"/>
            <a:chExt cx="5043611" cy="60799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043611" cy="607995"/>
            </a:xfrm>
            <a:custGeom>
              <a:avLst/>
              <a:gdLst/>
              <a:ahLst/>
              <a:cxnLst/>
              <a:rect l="l" t="t" r="r" b="b"/>
              <a:pathLst>
                <a:path w="5043611" h="607995">
                  <a:moveTo>
                    <a:pt x="0" y="0"/>
                  </a:moveTo>
                  <a:lnTo>
                    <a:pt x="5043611" y="0"/>
                  </a:lnTo>
                  <a:lnTo>
                    <a:pt x="5043611" y="607995"/>
                  </a:lnTo>
                  <a:lnTo>
                    <a:pt x="0" y="607995"/>
                  </a:lnTo>
                  <a:close/>
                </a:path>
              </a:pathLst>
            </a:custGeom>
            <a:solidFill>
              <a:srgbClr val="1B3C53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5043611" cy="6460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14"/>
          <p:cNvGrpSpPr>
            <a:grpSpLocks noChangeAspect="1"/>
          </p:cNvGrpSpPr>
          <p:nvPr/>
        </p:nvGrpSpPr>
        <p:grpSpPr>
          <a:xfrm>
            <a:off x="14075825" y="885482"/>
            <a:ext cx="4776078" cy="5246370"/>
            <a:chOff x="0" y="0"/>
            <a:chExt cx="5803900" cy="6375400"/>
          </a:xfrm>
        </p:grpSpPr>
        <p:sp>
          <p:nvSpPr>
            <p:cNvPr id="15" name="Freeform 15"/>
            <p:cNvSpPr/>
            <p:nvPr/>
          </p:nvSpPr>
          <p:spPr>
            <a:xfrm>
              <a:off x="12700" y="12700"/>
              <a:ext cx="5778500" cy="6350000"/>
            </a:xfrm>
            <a:custGeom>
              <a:avLst/>
              <a:gdLst/>
              <a:ahLst/>
              <a:cxnLst/>
              <a:rect l="l" t="t" r="r" b="b"/>
              <a:pathLst>
                <a:path w="5778500" h="6350000">
                  <a:moveTo>
                    <a:pt x="2889250" y="0"/>
                  </a:moveTo>
                  <a:cubicBezTo>
                    <a:pt x="1258570" y="0"/>
                    <a:pt x="0" y="1144270"/>
                    <a:pt x="0" y="2917190"/>
                  </a:cubicBezTo>
                  <a:cubicBezTo>
                    <a:pt x="0" y="4175760"/>
                    <a:pt x="0" y="6350000"/>
                    <a:pt x="0" y="6350000"/>
                  </a:cubicBezTo>
                  <a:lnTo>
                    <a:pt x="2889250" y="6350000"/>
                  </a:lnTo>
                  <a:lnTo>
                    <a:pt x="5778500" y="6350000"/>
                  </a:lnTo>
                  <a:cubicBezTo>
                    <a:pt x="5778500" y="6350000"/>
                    <a:pt x="5778500" y="4175760"/>
                    <a:pt x="5778500" y="2917190"/>
                  </a:cubicBezTo>
                  <a:cubicBezTo>
                    <a:pt x="5778500" y="1144270"/>
                    <a:pt x="4519930" y="0"/>
                    <a:pt x="2889250" y="0"/>
                  </a:cubicBezTo>
                  <a:close/>
                </a:path>
              </a:pathLst>
            </a:custGeom>
            <a:blipFill>
              <a:blip r:embed="rId2"/>
              <a:stretch>
                <a:fillRect l="-32342" r="-32342"/>
              </a:stretch>
            </a:blipFill>
          </p:spPr>
        </p:sp>
        <p:sp>
          <p:nvSpPr>
            <p:cNvPr id="16" name="Freeform 16"/>
            <p:cNvSpPr/>
            <p:nvPr/>
          </p:nvSpPr>
          <p:spPr>
            <a:xfrm>
              <a:off x="0" y="0"/>
              <a:ext cx="5803900" cy="6375400"/>
            </a:xfrm>
            <a:custGeom>
              <a:avLst/>
              <a:gdLst/>
              <a:ahLst/>
              <a:cxnLst/>
              <a:rect l="l" t="t" r="r" b="b"/>
              <a:pathLst>
                <a:path w="5803900" h="6375400">
                  <a:moveTo>
                    <a:pt x="5803900" y="6375400"/>
                  </a:moveTo>
                  <a:lnTo>
                    <a:pt x="0" y="6375400"/>
                  </a:lnTo>
                  <a:lnTo>
                    <a:pt x="0" y="2929890"/>
                  </a:lnTo>
                  <a:cubicBezTo>
                    <a:pt x="0" y="2495550"/>
                    <a:pt x="74930" y="2089150"/>
                    <a:pt x="223520" y="1720850"/>
                  </a:cubicBezTo>
                  <a:cubicBezTo>
                    <a:pt x="365760" y="1367790"/>
                    <a:pt x="571500" y="1056640"/>
                    <a:pt x="836930" y="797560"/>
                  </a:cubicBezTo>
                  <a:cubicBezTo>
                    <a:pt x="1361440" y="283210"/>
                    <a:pt x="2095500" y="0"/>
                    <a:pt x="2901950" y="0"/>
                  </a:cubicBezTo>
                  <a:cubicBezTo>
                    <a:pt x="3708400" y="0"/>
                    <a:pt x="4441190" y="283210"/>
                    <a:pt x="4966970" y="797560"/>
                  </a:cubicBezTo>
                  <a:cubicBezTo>
                    <a:pt x="5232400" y="1056640"/>
                    <a:pt x="5438140" y="1367790"/>
                    <a:pt x="5580380" y="1722120"/>
                  </a:cubicBezTo>
                  <a:cubicBezTo>
                    <a:pt x="5728970" y="2090420"/>
                    <a:pt x="5803900" y="2496820"/>
                    <a:pt x="5803900" y="2931160"/>
                  </a:cubicBezTo>
                  <a:lnTo>
                    <a:pt x="5803900" y="6375400"/>
                  </a:lnTo>
                  <a:close/>
                  <a:moveTo>
                    <a:pt x="25400" y="6350000"/>
                  </a:moveTo>
                  <a:lnTo>
                    <a:pt x="5778500" y="6350000"/>
                  </a:lnTo>
                  <a:lnTo>
                    <a:pt x="5778500" y="2929890"/>
                  </a:lnTo>
                  <a:cubicBezTo>
                    <a:pt x="5778500" y="2499360"/>
                    <a:pt x="5703570" y="2095500"/>
                    <a:pt x="5557520" y="1731010"/>
                  </a:cubicBezTo>
                  <a:cubicBezTo>
                    <a:pt x="5416550" y="1380490"/>
                    <a:pt x="5212080" y="1073150"/>
                    <a:pt x="4949190" y="815340"/>
                  </a:cubicBezTo>
                  <a:cubicBezTo>
                    <a:pt x="4428490" y="306070"/>
                    <a:pt x="3700780" y="25400"/>
                    <a:pt x="2901950" y="25400"/>
                  </a:cubicBezTo>
                  <a:cubicBezTo>
                    <a:pt x="2103120" y="25400"/>
                    <a:pt x="1375410" y="306070"/>
                    <a:pt x="854710" y="815340"/>
                  </a:cubicBezTo>
                  <a:cubicBezTo>
                    <a:pt x="591820" y="1071880"/>
                    <a:pt x="387350" y="1380490"/>
                    <a:pt x="246380" y="1731010"/>
                  </a:cubicBezTo>
                  <a:cubicBezTo>
                    <a:pt x="100330" y="2095500"/>
                    <a:pt x="25400" y="2499360"/>
                    <a:pt x="25400" y="2929890"/>
                  </a:cubicBezTo>
                  <a:lnTo>
                    <a:pt x="25400" y="6350000"/>
                  </a:lnTo>
                  <a:close/>
                </a:path>
              </a:pathLst>
            </a:custGeom>
            <a:solidFill>
              <a:srgbClr val="B87C4C"/>
            </a:solidFill>
          </p:spPr>
        </p:sp>
      </p:grpSp>
      <p:sp>
        <p:nvSpPr>
          <p:cNvPr id="17" name="TextBox 17"/>
          <p:cNvSpPr txBox="1"/>
          <p:nvPr/>
        </p:nvSpPr>
        <p:spPr>
          <a:xfrm>
            <a:off x="1895518" y="563930"/>
            <a:ext cx="12328918" cy="14255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186"/>
              </a:lnSpc>
            </a:pPr>
            <a:r>
              <a:rPr lang="en-US" sz="8704" b="1" dirty="0" err="1">
                <a:solidFill>
                  <a:srgbClr val="1B3C53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Pertemuan</a:t>
            </a:r>
            <a:r>
              <a:rPr lang="en-US" sz="8704" b="1" dirty="0">
                <a:solidFill>
                  <a:srgbClr val="1B3C53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 2</a:t>
            </a:r>
          </a:p>
        </p:txBody>
      </p:sp>
      <p:sp>
        <p:nvSpPr>
          <p:cNvPr id="18" name="Freeform 18"/>
          <p:cNvSpPr/>
          <p:nvPr/>
        </p:nvSpPr>
        <p:spPr>
          <a:xfrm>
            <a:off x="13289441" y="5454734"/>
            <a:ext cx="2593176" cy="2088686"/>
          </a:xfrm>
          <a:custGeom>
            <a:avLst/>
            <a:gdLst/>
            <a:ahLst/>
            <a:cxnLst/>
            <a:rect l="l" t="t" r="r" b="b"/>
            <a:pathLst>
              <a:path w="2593176" h="2088686">
                <a:moveTo>
                  <a:pt x="0" y="0"/>
                </a:moveTo>
                <a:lnTo>
                  <a:pt x="2593176" y="0"/>
                </a:lnTo>
                <a:lnTo>
                  <a:pt x="2593176" y="2088686"/>
                </a:lnTo>
                <a:lnTo>
                  <a:pt x="0" y="208868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19" name="Group 19"/>
          <p:cNvGrpSpPr/>
          <p:nvPr/>
        </p:nvGrpSpPr>
        <p:grpSpPr>
          <a:xfrm>
            <a:off x="1895518" y="2977821"/>
            <a:ext cx="10256533" cy="1024427"/>
            <a:chOff x="0" y="0"/>
            <a:chExt cx="3031124" cy="30275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031124" cy="302750"/>
            </a:xfrm>
            <a:custGeom>
              <a:avLst/>
              <a:gdLst/>
              <a:ahLst/>
              <a:cxnLst/>
              <a:rect l="l" t="t" r="r" b="b"/>
              <a:pathLst>
                <a:path w="3031124" h="302750">
                  <a:moveTo>
                    <a:pt x="35477" y="0"/>
                  </a:moveTo>
                  <a:lnTo>
                    <a:pt x="2995648" y="0"/>
                  </a:lnTo>
                  <a:cubicBezTo>
                    <a:pt x="3015241" y="0"/>
                    <a:pt x="3031124" y="15884"/>
                    <a:pt x="3031124" y="35477"/>
                  </a:cubicBezTo>
                  <a:lnTo>
                    <a:pt x="3031124" y="267273"/>
                  </a:lnTo>
                  <a:cubicBezTo>
                    <a:pt x="3031124" y="276682"/>
                    <a:pt x="3027387" y="285706"/>
                    <a:pt x="3020733" y="292359"/>
                  </a:cubicBezTo>
                  <a:cubicBezTo>
                    <a:pt x="3014080" y="299012"/>
                    <a:pt x="3005057" y="302750"/>
                    <a:pt x="2995648" y="302750"/>
                  </a:cubicBezTo>
                  <a:lnTo>
                    <a:pt x="35477" y="302750"/>
                  </a:lnTo>
                  <a:cubicBezTo>
                    <a:pt x="15884" y="302750"/>
                    <a:pt x="0" y="286866"/>
                    <a:pt x="0" y="267273"/>
                  </a:cubicBezTo>
                  <a:lnTo>
                    <a:pt x="0" y="35477"/>
                  </a:lnTo>
                  <a:cubicBezTo>
                    <a:pt x="0" y="26068"/>
                    <a:pt x="3738" y="17044"/>
                    <a:pt x="10391" y="10391"/>
                  </a:cubicBezTo>
                  <a:cubicBezTo>
                    <a:pt x="17044" y="3738"/>
                    <a:pt x="26068" y="0"/>
                    <a:pt x="35477" y="0"/>
                  </a:cubicBezTo>
                  <a:close/>
                </a:path>
              </a:pathLst>
            </a:custGeom>
            <a:solidFill>
              <a:srgbClr val="FFFFFF">
                <a:alpha val="72941"/>
              </a:srgbClr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3031124" cy="340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895518" y="4261649"/>
            <a:ext cx="10256533" cy="1024427"/>
            <a:chOff x="0" y="0"/>
            <a:chExt cx="3031124" cy="30275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3031124" cy="302750"/>
            </a:xfrm>
            <a:custGeom>
              <a:avLst/>
              <a:gdLst/>
              <a:ahLst/>
              <a:cxnLst/>
              <a:rect l="l" t="t" r="r" b="b"/>
              <a:pathLst>
                <a:path w="3031124" h="302750">
                  <a:moveTo>
                    <a:pt x="35477" y="0"/>
                  </a:moveTo>
                  <a:lnTo>
                    <a:pt x="2995648" y="0"/>
                  </a:lnTo>
                  <a:cubicBezTo>
                    <a:pt x="3015241" y="0"/>
                    <a:pt x="3031124" y="15884"/>
                    <a:pt x="3031124" y="35477"/>
                  </a:cubicBezTo>
                  <a:lnTo>
                    <a:pt x="3031124" y="267273"/>
                  </a:lnTo>
                  <a:cubicBezTo>
                    <a:pt x="3031124" y="276682"/>
                    <a:pt x="3027387" y="285706"/>
                    <a:pt x="3020733" y="292359"/>
                  </a:cubicBezTo>
                  <a:cubicBezTo>
                    <a:pt x="3014080" y="299012"/>
                    <a:pt x="3005057" y="302750"/>
                    <a:pt x="2995648" y="302750"/>
                  </a:cubicBezTo>
                  <a:lnTo>
                    <a:pt x="35477" y="302750"/>
                  </a:lnTo>
                  <a:cubicBezTo>
                    <a:pt x="15884" y="302750"/>
                    <a:pt x="0" y="286866"/>
                    <a:pt x="0" y="267273"/>
                  </a:cubicBezTo>
                  <a:lnTo>
                    <a:pt x="0" y="35477"/>
                  </a:lnTo>
                  <a:cubicBezTo>
                    <a:pt x="0" y="26068"/>
                    <a:pt x="3738" y="17044"/>
                    <a:pt x="10391" y="10391"/>
                  </a:cubicBezTo>
                  <a:cubicBezTo>
                    <a:pt x="17044" y="3738"/>
                    <a:pt x="26068" y="0"/>
                    <a:pt x="35477" y="0"/>
                  </a:cubicBezTo>
                  <a:close/>
                </a:path>
              </a:pathLst>
            </a:custGeom>
            <a:solidFill>
              <a:srgbClr val="FFFFFF">
                <a:alpha val="72941"/>
              </a:srgbClr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0" y="-38100"/>
              <a:ext cx="3031124" cy="340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895518" y="5545476"/>
            <a:ext cx="10256533" cy="1024427"/>
            <a:chOff x="0" y="0"/>
            <a:chExt cx="3031124" cy="30275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3031124" cy="302750"/>
            </a:xfrm>
            <a:custGeom>
              <a:avLst/>
              <a:gdLst/>
              <a:ahLst/>
              <a:cxnLst/>
              <a:rect l="l" t="t" r="r" b="b"/>
              <a:pathLst>
                <a:path w="3031124" h="302750">
                  <a:moveTo>
                    <a:pt x="35477" y="0"/>
                  </a:moveTo>
                  <a:lnTo>
                    <a:pt x="2995648" y="0"/>
                  </a:lnTo>
                  <a:cubicBezTo>
                    <a:pt x="3015241" y="0"/>
                    <a:pt x="3031124" y="15884"/>
                    <a:pt x="3031124" y="35477"/>
                  </a:cubicBezTo>
                  <a:lnTo>
                    <a:pt x="3031124" y="267273"/>
                  </a:lnTo>
                  <a:cubicBezTo>
                    <a:pt x="3031124" y="276682"/>
                    <a:pt x="3027387" y="285706"/>
                    <a:pt x="3020733" y="292359"/>
                  </a:cubicBezTo>
                  <a:cubicBezTo>
                    <a:pt x="3014080" y="299012"/>
                    <a:pt x="3005057" y="302750"/>
                    <a:pt x="2995648" y="302750"/>
                  </a:cubicBezTo>
                  <a:lnTo>
                    <a:pt x="35477" y="302750"/>
                  </a:lnTo>
                  <a:cubicBezTo>
                    <a:pt x="15884" y="302750"/>
                    <a:pt x="0" y="286866"/>
                    <a:pt x="0" y="267273"/>
                  </a:cubicBezTo>
                  <a:lnTo>
                    <a:pt x="0" y="35477"/>
                  </a:lnTo>
                  <a:cubicBezTo>
                    <a:pt x="0" y="26068"/>
                    <a:pt x="3738" y="17044"/>
                    <a:pt x="10391" y="10391"/>
                  </a:cubicBezTo>
                  <a:cubicBezTo>
                    <a:pt x="17044" y="3738"/>
                    <a:pt x="26068" y="0"/>
                    <a:pt x="35477" y="0"/>
                  </a:cubicBezTo>
                  <a:close/>
                </a:path>
              </a:pathLst>
            </a:custGeom>
            <a:solidFill>
              <a:srgbClr val="FFFFFF">
                <a:alpha val="72941"/>
              </a:srgbClr>
            </a:solidFill>
          </p:spPr>
        </p:sp>
        <p:sp>
          <p:nvSpPr>
            <p:cNvPr id="33" name="TextBox 33"/>
            <p:cNvSpPr txBox="1"/>
            <p:nvPr/>
          </p:nvSpPr>
          <p:spPr>
            <a:xfrm>
              <a:off x="0" y="-38100"/>
              <a:ext cx="3031124" cy="340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2054789" y="1788532"/>
            <a:ext cx="7535887" cy="4228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45"/>
              </a:lnSpc>
            </a:pPr>
            <a:r>
              <a:rPr lang="en-US" sz="2000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Komponen-komponen</a:t>
            </a:r>
            <a:r>
              <a:rPr lang="en-US" sz="2000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lang="en-US" sz="2000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dasar</a:t>
            </a:r>
            <a:r>
              <a:rPr lang="en-US" sz="2000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android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847866" y="2717732"/>
            <a:ext cx="8424641" cy="46798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745"/>
              </a:lnSpc>
            </a:pPr>
            <a:r>
              <a:rPr lang="en-US" sz="1600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Activity </a:t>
            </a:r>
            <a:r>
              <a:rPr lang="en-US" sz="1600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adalah</a:t>
            </a:r>
            <a:r>
              <a:rPr lang="en-US" sz="1600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lang="en-US" sz="1600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sebuah</a:t>
            </a:r>
            <a:r>
              <a:rPr lang="en-US" sz="1600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lang="en-US" sz="1600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komponen</a:t>
            </a:r>
            <a:r>
              <a:rPr lang="en-US" sz="1600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lang="en-US" sz="1600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aplikasi</a:t>
            </a:r>
            <a:r>
              <a:rPr lang="en-US" sz="1600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yang </a:t>
            </a:r>
            <a:r>
              <a:rPr lang="en-US" sz="1600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merepresentasikan</a:t>
            </a:r>
            <a:r>
              <a:rPr lang="en-US" sz="1600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lang="en-US" sz="1600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sebuah</a:t>
            </a:r>
            <a:r>
              <a:rPr lang="en-US" sz="1600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window (</a:t>
            </a:r>
            <a:r>
              <a:rPr lang="en-US" sz="1600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jendela</a:t>
            </a:r>
            <a:r>
              <a:rPr lang="en-US" sz="1600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) </a:t>
            </a:r>
            <a:r>
              <a:rPr lang="en-US" sz="1600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atau</a:t>
            </a:r>
            <a:r>
              <a:rPr lang="en-US" sz="1600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lang="en-US" sz="1600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satu</a:t>
            </a:r>
            <a:r>
              <a:rPr lang="en-US" sz="1600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lang="en-US" sz="1600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hierarki</a:t>
            </a:r>
            <a:r>
              <a:rPr lang="en-US" sz="1600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view. </a:t>
            </a:r>
            <a:r>
              <a:rPr lang="en-US" sz="1600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Secara</a:t>
            </a:r>
            <a:r>
              <a:rPr lang="en-US" sz="1600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lang="en-US" sz="1600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umum</a:t>
            </a:r>
            <a:r>
              <a:rPr lang="en-US" sz="1600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lang="en-US" sz="1600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mengisi</a:t>
            </a:r>
            <a:r>
              <a:rPr lang="en-US" sz="1600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lang="en-US" sz="1600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sebuah</a:t>
            </a:r>
            <a:r>
              <a:rPr lang="en-US" sz="1600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screen, </a:t>
            </a:r>
            <a:r>
              <a:rPr lang="en-US" sz="1600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tetapi</a:t>
            </a:r>
            <a:r>
              <a:rPr lang="en-US" sz="1600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juga </a:t>
            </a:r>
            <a:r>
              <a:rPr lang="en-US" sz="1600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dapat</a:t>
            </a:r>
            <a:r>
              <a:rPr lang="en-US" sz="1600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lang="en-US" sz="1600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ditambahkan</a:t>
            </a:r>
            <a:r>
              <a:rPr lang="en-US" sz="1600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pada Activity lain </a:t>
            </a:r>
            <a:r>
              <a:rPr lang="en-US" sz="1600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atau</a:t>
            </a:r>
            <a:r>
              <a:rPr lang="en-US" sz="1600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lang="en-US" sz="1600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muncul</a:t>
            </a:r>
            <a:r>
              <a:rPr lang="en-US" sz="1600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lang="en-US" sz="1600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sebagai</a:t>
            </a:r>
            <a:r>
              <a:rPr lang="en-US" sz="1600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floating window. Activity </a:t>
            </a:r>
            <a:r>
              <a:rPr lang="en-US" sz="1600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merupakan</a:t>
            </a:r>
            <a:r>
              <a:rPr lang="en-US" sz="1600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lang="en-US" sz="1600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sebuah</a:t>
            </a:r>
            <a:r>
              <a:rPr lang="en-US" sz="1600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class Java, </a:t>
            </a:r>
            <a:r>
              <a:rPr lang="en-US" sz="1600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satu</a:t>
            </a:r>
            <a:r>
              <a:rPr lang="en-US" sz="1600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Activity </a:t>
            </a:r>
            <a:r>
              <a:rPr lang="en-US" sz="1600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adalah</a:t>
            </a:r>
            <a:r>
              <a:rPr lang="en-US" sz="1600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lang="en-US" sz="1600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satu</a:t>
            </a:r>
            <a:r>
              <a:rPr lang="en-US" sz="1600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file java. Activity </a:t>
            </a:r>
            <a:r>
              <a:rPr lang="en-US" sz="1600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dapat</a:t>
            </a:r>
            <a:r>
              <a:rPr lang="en-US" sz="1600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lang="en-US" sz="1600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merepresentasikan</a:t>
            </a:r>
            <a:r>
              <a:rPr lang="en-US" sz="1600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lang="en-US" sz="1600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sebuah</a:t>
            </a:r>
            <a:r>
              <a:rPr lang="en-US" sz="1600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Activity </a:t>
            </a:r>
            <a:r>
              <a:rPr lang="en-US" sz="1600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seperti</a:t>
            </a:r>
            <a:r>
              <a:rPr lang="en-US" sz="1600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lang="en-US" sz="1600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memesan</a:t>
            </a:r>
            <a:r>
              <a:rPr lang="en-US" sz="1600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kopi, </a:t>
            </a:r>
            <a:r>
              <a:rPr lang="en-US" sz="1600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mengirim</a:t>
            </a:r>
            <a:r>
              <a:rPr lang="en-US" sz="1600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email, </a:t>
            </a:r>
            <a:r>
              <a:rPr lang="en-US" sz="1600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mendapatkan</a:t>
            </a:r>
            <a:r>
              <a:rPr lang="en-US" sz="1600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lang="en-US" sz="1600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arah</a:t>
            </a:r>
            <a:r>
              <a:rPr lang="en-US" sz="1600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, dan lain-lain. Activity </a:t>
            </a:r>
            <a:r>
              <a:rPr lang="en-US" sz="1600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dapat</a:t>
            </a:r>
            <a:r>
              <a:rPr lang="en-US" sz="1600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lang="en-US" sz="1600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menangani</a:t>
            </a:r>
            <a:r>
              <a:rPr lang="en-US" sz="1600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lang="en-US" sz="1600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interaksi</a:t>
            </a:r>
            <a:r>
              <a:rPr lang="en-US" sz="1600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lang="en-US" sz="1600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pengguna</a:t>
            </a:r>
            <a:r>
              <a:rPr lang="en-US" sz="1600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, </a:t>
            </a:r>
            <a:r>
              <a:rPr lang="en-US" sz="1600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seperti</a:t>
            </a:r>
            <a:r>
              <a:rPr lang="en-US" sz="1600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button click, text entry, </a:t>
            </a:r>
            <a:r>
              <a:rPr lang="en-US" sz="1600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atau</a:t>
            </a:r>
            <a:r>
              <a:rPr lang="en-US" sz="1600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login verification. Activity </a:t>
            </a:r>
            <a:r>
              <a:rPr lang="en-US" sz="1600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memiliki</a:t>
            </a:r>
            <a:r>
              <a:rPr lang="en-US" sz="1600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life cycle yang </a:t>
            </a:r>
            <a:r>
              <a:rPr lang="en-US" sz="1600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terdiri</a:t>
            </a:r>
            <a:r>
              <a:rPr lang="en-US" sz="1600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lang="en-US" sz="1600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dari</a:t>
            </a:r>
            <a:r>
              <a:rPr lang="en-US" sz="1600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is created, started, runs, is paused, resumed, stopped, dan destroyed. Activity </a:t>
            </a:r>
            <a:r>
              <a:rPr lang="en-US" sz="1600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pertama</a:t>
            </a:r>
            <a:r>
              <a:rPr lang="en-US" sz="1600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lang="en-US" sz="1600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pengguna</a:t>
            </a:r>
            <a:r>
              <a:rPr lang="en-US" sz="1600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lang="en-US" sz="1600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disebut</a:t>
            </a:r>
            <a:r>
              <a:rPr lang="en-US" sz="1600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lang="en-US" sz="1600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dengan</a:t>
            </a:r>
            <a:r>
              <a:rPr lang="en-US" sz="1600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“main activity”.</a:t>
            </a:r>
          </a:p>
        </p:txBody>
      </p:sp>
      <p:grpSp>
        <p:nvGrpSpPr>
          <p:cNvPr id="51" name="Group 51"/>
          <p:cNvGrpSpPr/>
          <p:nvPr/>
        </p:nvGrpSpPr>
        <p:grpSpPr>
          <a:xfrm>
            <a:off x="16035642" y="9258300"/>
            <a:ext cx="982727" cy="636341"/>
            <a:chOff x="0" y="0"/>
            <a:chExt cx="258825" cy="167596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258825" cy="167596"/>
            </a:xfrm>
            <a:custGeom>
              <a:avLst/>
              <a:gdLst/>
              <a:ahLst/>
              <a:cxnLst/>
              <a:rect l="l" t="t" r="r" b="b"/>
              <a:pathLst>
                <a:path w="258825" h="167596">
                  <a:moveTo>
                    <a:pt x="83798" y="0"/>
                  </a:moveTo>
                  <a:lnTo>
                    <a:pt x="175027" y="0"/>
                  </a:lnTo>
                  <a:cubicBezTo>
                    <a:pt x="221308" y="0"/>
                    <a:pt x="258825" y="37518"/>
                    <a:pt x="258825" y="83798"/>
                  </a:cubicBezTo>
                  <a:lnTo>
                    <a:pt x="258825" y="83798"/>
                  </a:lnTo>
                  <a:cubicBezTo>
                    <a:pt x="258825" y="130078"/>
                    <a:pt x="221308" y="167596"/>
                    <a:pt x="175027" y="167596"/>
                  </a:cubicBezTo>
                  <a:lnTo>
                    <a:pt x="83798" y="167596"/>
                  </a:lnTo>
                  <a:cubicBezTo>
                    <a:pt x="37518" y="167596"/>
                    <a:pt x="0" y="130078"/>
                    <a:pt x="0" y="83798"/>
                  </a:cubicBezTo>
                  <a:lnTo>
                    <a:pt x="0" y="83798"/>
                  </a:lnTo>
                  <a:cubicBezTo>
                    <a:pt x="0" y="37518"/>
                    <a:pt x="37518" y="0"/>
                    <a:pt x="83798" y="0"/>
                  </a:cubicBezTo>
                  <a:close/>
                </a:path>
              </a:pathLst>
            </a:custGeom>
            <a:solidFill>
              <a:srgbClr val="D2C1B6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0" y="-38100"/>
              <a:ext cx="258825" cy="2056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4" name="TextBox 54"/>
          <p:cNvSpPr txBox="1"/>
          <p:nvPr/>
        </p:nvSpPr>
        <p:spPr>
          <a:xfrm>
            <a:off x="16181145" y="9248775"/>
            <a:ext cx="691721" cy="4844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28"/>
              </a:lnSpc>
            </a:pPr>
            <a:r>
              <a:rPr lang="en-US" sz="2877" b="1">
                <a:solidFill>
                  <a:srgbClr val="1B3C53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04</a:t>
            </a:r>
          </a:p>
        </p:txBody>
      </p:sp>
      <p:grpSp>
        <p:nvGrpSpPr>
          <p:cNvPr id="55" name="Group 55"/>
          <p:cNvGrpSpPr/>
          <p:nvPr/>
        </p:nvGrpSpPr>
        <p:grpSpPr>
          <a:xfrm>
            <a:off x="17067659" y="9415048"/>
            <a:ext cx="2388751" cy="318171"/>
            <a:chOff x="0" y="0"/>
            <a:chExt cx="629136" cy="83798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629136" cy="83798"/>
            </a:xfrm>
            <a:custGeom>
              <a:avLst/>
              <a:gdLst/>
              <a:ahLst/>
              <a:cxnLst/>
              <a:rect l="l" t="t" r="r" b="b"/>
              <a:pathLst>
                <a:path w="629136" h="83798">
                  <a:moveTo>
                    <a:pt x="41899" y="0"/>
                  </a:moveTo>
                  <a:lnTo>
                    <a:pt x="587237" y="0"/>
                  </a:lnTo>
                  <a:cubicBezTo>
                    <a:pt x="598349" y="0"/>
                    <a:pt x="609007" y="4414"/>
                    <a:pt x="616864" y="12272"/>
                  </a:cubicBezTo>
                  <a:cubicBezTo>
                    <a:pt x="624722" y="20130"/>
                    <a:pt x="629136" y="30787"/>
                    <a:pt x="629136" y="41899"/>
                  </a:cubicBezTo>
                  <a:lnTo>
                    <a:pt x="629136" y="41899"/>
                  </a:lnTo>
                  <a:cubicBezTo>
                    <a:pt x="629136" y="53011"/>
                    <a:pt x="624722" y="63668"/>
                    <a:pt x="616864" y="71526"/>
                  </a:cubicBezTo>
                  <a:cubicBezTo>
                    <a:pt x="609007" y="79384"/>
                    <a:pt x="598349" y="83798"/>
                    <a:pt x="587237" y="83798"/>
                  </a:cubicBezTo>
                  <a:lnTo>
                    <a:pt x="41899" y="83798"/>
                  </a:lnTo>
                  <a:cubicBezTo>
                    <a:pt x="30787" y="83798"/>
                    <a:pt x="20130" y="79384"/>
                    <a:pt x="12272" y="71526"/>
                  </a:cubicBezTo>
                  <a:cubicBezTo>
                    <a:pt x="4414" y="63668"/>
                    <a:pt x="0" y="53011"/>
                    <a:pt x="0" y="41899"/>
                  </a:cubicBezTo>
                  <a:lnTo>
                    <a:pt x="0" y="41899"/>
                  </a:lnTo>
                  <a:cubicBezTo>
                    <a:pt x="0" y="30787"/>
                    <a:pt x="4414" y="20130"/>
                    <a:pt x="12272" y="12272"/>
                  </a:cubicBezTo>
                  <a:cubicBezTo>
                    <a:pt x="20130" y="4414"/>
                    <a:pt x="30787" y="0"/>
                    <a:pt x="41899" y="0"/>
                  </a:cubicBezTo>
                  <a:close/>
                </a:path>
              </a:pathLst>
            </a:custGeom>
            <a:solidFill>
              <a:srgbClr val="D2C1B6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0" y="-38100"/>
              <a:ext cx="629136" cy="1218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34753" y="-403557"/>
            <a:ext cx="20829275" cy="986808"/>
            <a:chOff x="0" y="0"/>
            <a:chExt cx="5485900" cy="2599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485900" cy="259900"/>
            </a:xfrm>
            <a:custGeom>
              <a:avLst/>
              <a:gdLst/>
              <a:ahLst/>
              <a:cxnLst/>
              <a:rect l="l" t="t" r="r" b="b"/>
              <a:pathLst>
                <a:path w="5485900" h="259900">
                  <a:moveTo>
                    <a:pt x="0" y="0"/>
                  </a:moveTo>
                  <a:lnTo>
                    <a:pt x="5485900" y="0"/>
                  </a:lnTo>
                  <a:lnTo>
                    <a:pt x="5485900" y="259900"/>
                  </a:lnTo>
                  <a:lnTo>
                    <a:pt x="0" y="259900"/>
                  </a:lnTo>
                  <a:close/>
                </a:path>
              </a:pathLst>
            </a:custGeom>
            <a:solidFill>
              <a:srgbClr val="1B3C53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485900" cy="298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-1438057" y="-900841"/>
            <a:ext cx="3685104" cy="2968184"/>
          </a:xfrm>
          <a:custGeom>
            <a:avLst/>
            <a:gdLst/>
            <a:ahLst/>
            <a:cxnLst/>
            <a:rect l="l" t="t" r="r" b="b"/>
            <a:pathLst>
              <a:path w="3685104" h="2968184">
                <a:moveTo>
                  <a:pt x="0" y="0"/>
                </a:moveTo>
                <a:lnTo>
                  <a:pt x="3685104" y="0"/>
                </a:lnTo>
                <a:lnTo>
                  <a:pt x="3685104" y="2968184"/>
                </a:lnTo>
                <a:lnTo>
                  <a:pt x="0" y="29681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-837479" y="9083135"/>
            <a:ext cx="9981479" cy="175165"/>
            <a:chOff x="0" y="0"/>
            <a:chExt cx="2628867" cy="4613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628867" cy="46134"/>
            </a:xfrm>
            <a:custGeom>
              <a:avLst/>
              <a:gdLst/>
              <a:ahLst/>
              <a:cxnLst/>
              <a:rect l="l" t="t" r="r" b="b"/>
              <a:pathLst>
                <a:path w="2628867" h="46134">
                  <a:moveTo>
                    <a:pt x="0" y="0"/>
                  </a:moveTo>
                  <a:lnTo>
                    <a:pt x="2628867" y="0"/>
                  </a:lnTo>
                  <a:lnTo>
                    <a:pt x="2628867" y="46134"/>
                  </a:lnTo>
                  <a:lnTo>
                    <a:pt x="0" y="46134"/>
                  </a:lnTo>
                  <a:close/>
                </a:path>
              </a:pathLst>
            </a:custGeom>
            <a:solidFill>
              <a:srgbClr val="D2C1B6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628867" cy="842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2540829" y="1321876"/>
            <a:ext cx="13603583" cy="970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095"/>
              </a:lnSpc>
            </a:pPr>
            <a:r>
              <a:rPr lang="en-US" sz="5400" b="1" dirty="0">
                <a:solidFill>
                  <a:srgbClr val="1B3C53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Cara </a:t>
            </a:r>
            <a:r>
              <a:rPr lang="en-US" sz="5400" b="1" dirty="0" err="1">
                <a:solidFill>
                  <a:srgbClr val="1B3C53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mengimplementasikannya</a:t>
            </a:r>
            <a:r>
              <a:rPr lang="en-US" sz="5400" b="1" dirty="0">
                <a:solidFill>
                  <a:srgbClr val="1B3C53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:</a:t>
            </a:r>
          </a:p>
        </p:txBody>
      </p:sp>
      <p:sp>
        <p:nvSpPr>
          <p:cNvPr id="10" name="Freeform 10"/>
          <p:cNvSpPr/>
          <p:nvPr/>
        </p:nvSpPr>
        <p:spPr>
          <a:xfrm rot="-5400000">
            <a:off x="16370891" y="-740889"/>
            <a:ext cx="2631861" cy="3539177"/>
          </a:xfrm>
          <a:custGeom>
            <a:avLst/>
            <a:gdLst/>
            <a:ahLst/>
            <a:cxnLst/>
            <a:rect l="l" t="t" r="r" b="b"/>
            <a:pathLst>
              <a:path w="2631861" h="3539177">
                <a:moveTo>
                  <a:pt x="0" y="0"/>
                </a:moveTo>
                <a:lnTo>
                  <a:pt x="2631861" y="0"/>
                </a:lnTo>
                <a:lnTo>
                  <a:pt x="2631861" y="3539178"/>
                </a:lnTo>
                <a:lnTo>
                  <a:pt x="0" y="353917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4" name="Group 14"/>
          <p:cNvGrpSpPr/>
          <p:nvPr/>
        </p:nvGrpSpPr>
        <p:grpSpPr>
          <a:xfrm>
            <a:off x="-166542" y="9429750"/>
            <a:ext cx="9981479" cy="207989"/>
            <a:chOff x="0" y="0"/>
            <a:chExt cx="2628867" cy="5477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628867" cy="54779"/>
            </a:xfrm>
            <a:custGeom>
              <a:avLst/>
              <a:gdLst/>
              <a:ahLst/>
              <a:cxnLst/>
              <a:rect l="l" t="t" r="r" b="b"/>
              <a:pathLst>
                <a:path w="2628867" h="54779">
                  <a:moveTo>
                    <a:pt x="0" y="0"/>
                  </a:moveTo>
                  <a:lnTo>
                    <a:pt x="2628867" y="0"/>
                  </a:lnTo>
                  <a:lnTo>
                    <a:pt x="2628867" y="54779"/>
                  </a:lnTo>
                  <a:lnTo>
                    <a:pt x="0" y="54779"/>
                  </a:lnTo>
                  <a:close/>
                </a:path>
              </a:pathLst>
            </a:custGeom>
            <a:solidFill>
              <a:srgbClr val="456882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2628867" cy="928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447800" y="2564287"/>
            <a:ext cx="7112264" cy="56128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376"/>
              </a:lnSpc>
            </a:pPr>
            <a:r>
              <a:rPr lang="en-US" sz="1600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1. </a:t>
            </a:r>
            <a:r>
              <a:rPr lang="en-US" sz="1600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Definisikan</a:t>
            </a:r>
            <a:r>
              <a:rPr lang="en-US" sz="1600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layout </a:t>
            </a:r>
            <a:r>
              <a:rPr lang="en-US" sz="1600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dalam</a:t>
            </a:r>
            <a:r>
              <a:rPr lang="en-US" sz="1600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XML</a:t>
            </a:r>
          </a:p>
          <a:p>
            <a:pPr algn="just">
              <a:lnSpc>
                <a:spcPts val="3376"/>
              </a:lnSpc>
            </a:pPr>
            <a:r>
              <a:rPr lang="en-US" sz="1600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&lt;?xml version="1.0" encoding="utf-8"?&gt;</a:t>
            </a:r>
          </a:p>
          <a:p>
            <a:pPr algn="just">
              <a:lnSpc>
                <a:spcPts val="3376"/>
              </a:lnSpc>
            </a:pPr>
            <a:r>
              <a:rPr lang="en-US" sz="1600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&lt;</a:t>
            </a:r>
            <a:r>
              <a:rPr lang="en-US" sz="1600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RelativeLayout</a:t>
            </a:r>
            <a:r>
              <a:rPr lang="en-US" sz="1600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</a:p>
          <a:p>
            <a:pPr algn="just">
              <a:lnSpc>
                <a:spcPts val="3376"/>
              </a:lnSpc>
            </a:pPr>
            <a:r>
              <a:rPr lang="en-US" sz="1600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xmlns:android</a:t>
            </a:r>
            <a:r>
              <a:rPr lang="en-US" sz="1600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="http://schemas.android.com/</a:t>
            </a:r>
            <a:r>
              <a:rPr lang="en-US" sz="1600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apk</a:t>
            </a:r>
            <a:r>
              <a:rPr lang="en-US" sz="1600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/res/android"</a:t>
            </a:r>
          </a:p>
          <a:p>
            <a:pPr algn="just">
              <a:lnSpc>
                <a:spcPts val="3376"/>
              </a:lnSpc>
            </a:pPr>
            <a:r>
              <a:rPr lang="en-US" sz="1600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lang="en-US" sz="1600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android:layout_width</a:t>
            </a:r>
            <a:r>
              <a:rPr lang="en-US" sz="1600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="</a:t>
            </a:r>
            <a:r>
              <a:rPr lang="en-US" sz="1600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match_parent</a:t>
            </a:r>
            <a:r>
              <a:rPr lang="en-US" sz="1600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"</a:t>
            </a:r>
          </a:p>
          <a:p>
            <a:pPr algn="just">
              <a:lnSpc>
                <a:spcPts val="3376"/>
              </a:lnSpc>
            </a:pPr>
            <a:r>
              <a:rPr lang="en-US" sz="1600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lang="en-US" sz="1600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android:layout_height</a:t>
            </a:r>
            <a:r>
              <a:rPr lang="en-US" sz="1600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="</a:t>
            </a:r>
            <a:r>
              <a:rPr lang="en-US" sz="1600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match_parent</a:t>
            </a:r>
            <a:r>
              <a:rPr lang="en-US" sz="1600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"&gt;</a:t>
            </a:r>
          </a:p>
          <a:p>
            <a:pPr algn="just">
              <a:lnSpc>
                <a:spcPts val="3376"/>
              </a:lnSpc>
            </a:pPr>
            <a:r>
              <a:rPr lang="en-US" sz="1600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&lt;</a:t>
            </a:r>
            <a:r>
              <a:rPr lang="en-US" sz="1600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TextView</a:t>
            </a:r>
            <a:endParaRPr lang="en-US" sz="1600" dirty="0">
              <a:solidFill>
                <a:srgbClr val="7B4C26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algn="just">
              <a:lnSpc>
                <a:spcPts val="3376"/>
              </a:lnSpc>
            </a:pPr>
            <a:r>
              <a:rPr lang="en-US" sz="1600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lang="en-US" sz="1600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android:layout_width</a:t>
            </a:r>
            <a:r>
              <a:rPr lang="en-US" sz="1600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="</a:t>
            </a:r>
            <a:r>
              <a:rPr lang="en-US" sz="1600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wrap_content</a:t>
            </a:r>
            <a:r>
              <a:rPr lang="en-US" sz="1600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"</a:t>
            </a:r>
          </a:p>
          <a:p>
            <a:pPr algn="just">
              <a:lnSpc>
                <a:spcPts val="3376"/>
              </a:lnSpc>
            </a:pPr>
            <a:r>
              <a:rPr lang="en-US" sz="1600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lang="en-US" sz="1600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android:layout_height</a:t>
            </a:r>
            <a:r>
              <a:rPr lang="en-US" sz="1600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="</a:t>
            </a:r>
            <a:r>
              <a:rPr lang="en-US" sz="1600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wrap_content</a:t>
            </a:r>
            <a:r>
              <a:rPr lang="en-US" sz="1600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"</a:t>
            </a:r>
          </a:p>
          <a:p>
            <a:pPr algn="just">
              <a:lnSpc>
                <a:spcPts val="3376"/>
              </a:lnSpc>
            </a:pPr>
            <a:r>
              <a:rPr lang="en-US" sz="1600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lang="en-US" sz="1600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android:text</a:t>
            </a:r>
            <a:r>
              <a:rPr lang="en-US" sz="1600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="</a:t>
            </a:r>
            <a:r>
              <a:rPr lang="en-US" sz="1600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Belajar</a:t>
            </a:r>
            <a:r>
              <a:rPr lang="en-US" sz="1600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lang="en-US" sz="1600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Membuat</a:t>
            </a:r>
            <a:r>
              <a:rPr lang="en-US" sz="1600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Activity" /&gt;</a:t>
            </a:r>
          </a:p>
          <a:p>
            <a:pPr algn="just">
              <a:lnSpc>
                <a:spcPts val="3376"/>
              </a:lnSpc>
            </a:pPr>
            <a:r>
              <a:rPr lang="en-US" sz="1600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&lt;/</a:t>
            </a:r>
            <a:r>
              <a:rPr lang="en-US" sz="1600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RelativeLayout</a:t>
            </a:r>
            <a:r>
              <a:rPr lang="en-US" sz="1600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&gt;</a:t>
            </a:r>
          </a:p>
          <a:p>
            <a:pPr algn="just">
              <a:lnSpc>
                <a:spcPts val="3376"/>
              </a:lnSpc>
            </a:pPr>
            <a:r>
              <a:rPr lang="en-US" sz="1600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2. </a:t>
            </a:r>
            <a:r>
              <a:rPr lang="en-US" sz="1600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Definisikan</a:t>
            </a:r>
            <a:r>
              <a:rPr lang="en-US" sz="1600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Activity Java Class </a:t>
            </a:r>
            <a:r>
              <a:rPr lang="en-US" sz="1600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dengan</a:t>
            </a:r>
            <a:r>
              <a:rPr lang="en-US" sz="1600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extends </a:t>
            </a:r>
          </a:p>
          <a:p>
            <a:pPr algn="just">
              <a:lnSpc>
                <a:spcPts val="3376"/>
              </a:lnSpc>
            </a:pPr>
            <a:r>
              <a:rPr lang="en-US" sz="1600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AppCompatActivity</a:t>
            </a:r>
            <a:endParaRPr lang="en-US" sz="1600" dirty="0">
              <a:solidFill>
                <a:srgbClr val="7B4C26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grpSp>
        <p:nvGrpSpPr>
          <p:cNvPr id="29" name="Group 29"/>
          <p:cNvGrpSpPr/>
          <p:nvPr/>
        </p:nvGrpSpPr>
        <p:grpSpPr>
          <a:xfrm>
            <a:off x="16035642" y="9258300"/>
            <a:ext cx="982727" cy="636341"/>
            <a:chOff x="0" y="0"/>
            <a:chExt cx="258825" cy="167596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258825" cy="167596"/>
            </a:xfrm>
            <a:custGeom>
              <a:avLst/>
              <a:gdLst/>
              <a:ahLst/>
              <a:cxnLst/>
              <a:rect l="l" t="t" r="r" b="b"/>
              <a:pathLst>
                <a:path w="258825" h="167596">
                  <a:moveTo>
                    <a:pt x="83798" y="0"/>
                  </a:moveTo>
                  <a:lnTo>
                    <a:pt x="175027" y="0"/>
                  </a:lnTo>
                  <a:cubicBezTo>
                    <a:pt x="221308" y="0"/>
                    <a:pt x="258825" y="37518"/>
                    <a:pt x="258825" y="83798"/>
                  </a:cubicBezTo>
                  <a:lnTo>
                    <a:pt x="258825" y="83798"/>
                  </a:lnTo>
                  <a:cubicBezTo>
                    <a:pt x="258825" y="130078"/>
                    <a:pt x="221308" y="167596"/>
                    <a:pt x="175027" y="167596"/>
                  </a:cubicBezTo>
                  <a:lnTo>
                    <a:pt x="83798" y="167596"/>
                  </a:lnTo>
                  <a:cubicBezTo>
                    <a:pt x="37518" y="167596"/>
                    <a:pt x="0" y="130078"/>
                    <a:pt x="0" y="83798"/>
                  </a:cubicBezTo>
                  <a:lnTo>
                    <a:pt x="0" y="83798"/>
                  </a:lnTo>
                  <a:cubicBezTo>
                    <a:pt x="0" y="37518"/>
                    <a:pt x="37518" y="0"/>
                    <a:pt x="83798" y="0"/>
                  </a:cubicBezTo>
                  <a:close/>
                </a:path>
              </a:pathLst>
            </a:custGeom>
            <a:solidFill>
              <a:srgbClr val="D2C1B6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0" y="-38100"/>
              <a:ext cx="258825" cy="2056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16181145" y="9248775"/>
            <a:ext cx="691721" cy="4844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28"/>
              </a:lnSpc>
            </a:pPr>
            <a:r>
              <a:rPr lang="en-US" sz="2877" b="1">
                <a:solidFill>
                  <a:srgbClr val="1B3C53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05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17067659" y="9415048"/>
            <a:ext cx="2388751" cy="318171"/>
            <a:chOff x="0" y="0"/>
            <a:chExt cx="629136" cy="83798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629136" cy="83798"/>
            </a:xfrm>
            <a:custGeom>
              <a:avLst/>
              <a:gdLst/>
              <a:ahLst/>
              <a:cxnLst/>
              <a:rect l="l" t="t" r="r" b="b"/>
              <a:pathLst>
                <a:path w="629136" h="83798">
                  <a:moveTo>
                    <a:pt x="41899" y="0"/>
                  </a:moveTo>
                  <a:lnTo>
                    <a:pt x="587237" y="0"/>
                  </a:lnTo>
                  <a:cubicBezTo>
                    <a:pt x="598349" y="0"/>
                    <a:pt x="609007" y="4414"/>
                    <a:pt x="616864" y="12272"/>
                  </a:cubicBezTo>
                  <a:cubicBezTo>
                    <a:pt x="624722" y="20130"/>
                    <a:pt x="629136" y="30787"/>
                    <a:pt x="629136" y="41899"/>
                  </a:cubicBezTo>
                  <a:lnTo>
                    <a:pt x="629136" y="41899"/>
                  </a:lnTo>
                  <a:cubicBezTo>
                    <a:pt x="629136" y="53011"/>
                    <a:pt x="624722" y="63668"/>
                    <a:pt x="616864" y="71526"/>
                  </a:cubicBezTo>
                  <a:cubicBezTo>
                    <a:pt x="609007" y="79384"/>
                    <a:pt x="598349" y="83798"/>
                    <a:pt x="587237" y="83798"/>
                  </a:cubicBezTo>
                  <a:lnTo>
                    <a:pt x="41899" y="83798"/>
                  </a:lnTo>
                  <a:cubicBezTo>
                    <a:pt x="30787" y="83798"/>
                    <a:pt x="20130" y="79384"/>
                    <a:pt x="12272" y="71526"/>
                  </a:cubicBezTo>
                  <a:cubicBezTo>
                    <a:pt x="4414" y="63668"/>
                    <a:pt x="0" y="53011"/>
                    <a:pt x="0" y="41899"/>
                  </a:cubicBezTo>
                  <a:lnTo>
                    <a:pt x="0" y="41899"/>
                  </a:lnTo>
                  <a:cubicBezTo>
                    <a:pt x="0" y="30787"/>
                    <a:pt x="4414" y="20130"/>
                    <a:pt x="12272" y="12272"/>
                  </a:cubicBezTo>
                  <a:cubicBezTo>
                    <a:pt x="20130" y="4414"/>
                    <a:pt x="30787" y="0"/>
                    <a:pt x="41899" y="0"/>
                  </a:cubicBezTo>
                  <a:close/>
                </a:path>
              </a:pathLst>
            </a:custGeom>
            <a:solidFill>
              <a:srgbClr val="D2C1B6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0" y="-38100"/>
              <a:ext cx="629136" cy="1218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6" name="TextBox 18">
            <a:extLst>
              <a:ext uri="{FF2B5EF4-FFF2-40B4-BE49-F238E27FC236}">
                <a16:creationId xmlns:a16="http://schemas.microsoft.com/office/drawing/2014/main" id="{937D6717-D557-DAAB-1159-6E55E4C6CE33}"/>
              </a:ext>
            </a:extLst>
          </p:cNvPr>
          <p:cNvSpPr txBox="1"/>
          <p:nvPr/>
        </p:nvSpPr>
        <p:spPr>
          <a:xfrm>
            <a:off x="9342620" y="2564287"/>
            <a:ext cx="8723243" cy="56061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376"/>
              </a:lnSpc>
            </a:pPr>
            <a:r>
              <a:rPr lang="en-US" sz="1600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public class MainActivity extends </a:t>
            </a:r>
            <a:r>
              <a:rPr lang="en-US" sz="1600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AppCompatActivity</a:t>
            </a:r>
            <a:r>
              <a:rPr lang="en-US" sz="1600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{</a:t>
            </a:r>
          </a:p>
          <a:p>
            <a:pPr algn="just">
              <a:lnSpc>
                <a:spcPts val="3376"/>
              </a:lnSpc>
            </a:pPr>
            <a:r>
              <a:rPr lang="en-US" sz="1600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@Override</a:t>
            </a:r>
          </a:p>
          <a:p>
            <a:pPr algn="just">
              <a:lnSpc>
                <a:spcPts val="3376"/>
              </a:lnSpc>
            </a:pPr>
            <a:r>
              <a:rPr lang="en-US" sz="1600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protected void </a:t>
            </a:r>
            <a:r>
              <a:rPr lang="en-US" sz="1600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onCreate</a:t>
            </a:r>
            <a:r>
              <a:rPr lang="en-US" sz="1600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(Bundle </a:t>
            </a:r>
            <a:r>
              <a:rPr lang="en-US" sz="1600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savedInstanceState</a:t>
            </a:r>
            <a:r>
              <a:rPr lang="en-US" sz="1600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) </a:t>
            </a:r>
          </a:p>
          <a:p>
            <a:pPr algn="just">
              <a:lnSpc>
                <a:spcPts val="3376"/>
              </a:lnSpc>
            </a:pPr>
            <a:r>
              <a:rPr lang="en-US" sz="1600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{ </a:t>
            </a:r>
            <a:r>
              <a:rPr lang="en-US" sz="1600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super.onCreate</a:t>
            </a:r>
            <a:r>
              <a:rPr lang="en-US" sz="1600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(</a:t>
            </a:r>
            <a:r>
              <a:rPr lang="en-US" sz="1600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savedInstanceState</a:t>
            </a:r>
            <a:r>
              <a:rPr lang="en-US" sz="1600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);}</a:t>
            </a:r>
          </a:p>
          <a:p>
            <a:pPr algn="just">
              <a:lnSpc>
                <a:spcPts val="3376"/>
              </a:lnSpc>
            </a:pPr>
            <a:r>
              <a:rPr lang="en-US" sz="1600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}</a:t>
            </a:r>
          </a:p>
          <a:p>
            <a:pPr algn="just">
              <a:lnSpc>
                <a:spcPts val="3376"/>
              </a:lnSpc>
            </a:pPr>
            <a:r>
              <a:rPr lang="en-US" sz="1600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3. </a:t>
            </a:r>
            <a:r>
              <a:rPr lang="en-US" sz="1600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Hubungkan</a:t>
            </a:r>
            <a:r>
              <a:rPr lang="en-US" sz="1600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Activity </a:t>
            </a:r>
            <a:r>
              <a:rPr lang="en-US" sz="1600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dengan</a:t>
            </a:r>
            <a:r>
              <a:rPr lang="en-US" sz="1600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Layout </a:t>
            </a:r>
            <a:r>
              <a:rPr lang="en-US" sz="1600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dengan</a:t>
            </a:r>
            <a:r>
              <a:rPr lang="en-US" sz="1600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lang="en-US" sz="1600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SetContentView</a:t>
            </a:r>
            <a:r>
              <a:rPr lang="en-US" sz="1600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lang="en-US" sz="1600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dalam</a:t>
            </a:r>
            <a:r>
              <a:rPr lang="en-US" sz="1600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</a:p>
          <a:p>
            <a:pPr algn="just">
              <a:lnSpc>
                <a:spcPts val="3376"/>
              </a:lnSpc>
            </a:pPr>
            <a:r>
              <a:rPr lang="en-US" sz="1600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method </a:t>
            </a:r>
            <a:r>
              <a:rPr lang="en-US" sz="1600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onCreate</a:t>
            </a:r>
            <a:r>
              <a:rPr lang="en-US" sz="1600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()</a:t>
            </a:r>
          </a:p>
          <a:p>
            <a:pPr algn="just">
              <a:lnSpc>
                <a:spcPts val="3376"/>
              </a:lnSpc>
            </a:pPr>
            <a:r>
              <a:rPr lang="en-US" sz="1600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public class Test extends </a:t>
            </a:r>
            <a:r>
              <a:rPr lang="en-US" sz="1600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AppCompatActivity</a:t>
            </a:r>
            <a:r>
              <a:rPr lang="en-US" sz="1600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{</a:t>
            </a:r>
          </a:p>
          <a:p>
            <a:pPr algn="just">
              <a:lnSpc>
                <a:spcPts val="3376"/>
              </a:lnSpc>
            </a:pPr>
            <a:r>
              <a:rPr lang="en-US" sz="1600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@Override</a:t>
            </a:r>
          </a:p>
          <a:p>
            <a:pPr algn="just">
              <a:lnSpc>
                <a:spcPts val="3376"/>
              </a:lnSpc>
            </a:pPr>
            <a:r>
              <a:rPr lang="en-US" sz="1600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protected void </a:t>
            </a:r>
            <a:r>
              <a:rPr lang="en-US" sz="1600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onCreate</a:t>
            </a:r>
            <a:r>
              <a:rPr lang="en-US" sz="1600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(Bundle </a:t>
            </a:r>
            <a:r>
              <a:rPr lang="en-US" sz="1600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savedInstanceState</a:t>
            </a:r>
            <a:r>
              <a:rPr lang="en-US" sz="1600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) </a:t>
            </a:r>
          </a:p>
          <a:p>
            <a:pPr algn="just">
              <a:lnSpc>
                <a:spcPts val="3376"/>
              </a:lnSpc>
            </a:pPr>
            <a:r>
              <a:rPr lang="en-US" sz="1600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{</a:t>
            </a:r>
            <a:r>
              <a:rPr lang="en-US" sz="1600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super.onCreate</a:t>
            </a:r>
            <a:r>
              <a:rPr lang="en-US" sz="1600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(</a:t>
            </a:r>
            <a:r>
              <a:rPr lang="en-US" sz="1600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savedInstanceState</a:t>
            </a:r>
            <a:r>
              <a:rPr lang="en-US" sz="1600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);</a:t>
            </a:r>
          </a:p>
          <a:p>
            <a:pPr algn="just">
              <a:lnSpc>
                <a:spcPts val="3376"/>
              </a:lnSpc>
            </a:pPr>
            <a:r>
              <a:rPr lang="en-US" sz="1600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lang="en-US" sz="1600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setContentView</a:t>
            </a:r>
            <a:r>
              <a:rPr lang="en-US" sz="1600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(</a:t>
            </a:r>
            <a:r>
              <a:rPr lang="en-US" sz="1600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R.layout.activity_main</a:t>
            </a:r>
            <a:r>
              <a:rPr lang="en-US" sz="1600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);}}</a:t>
            </a:r>
          </a:p>
          <a:p>
            <a:pPr algn="just">
              <a:lnSpc>
                <a:spcPts val="3376"/>
              </a:lnSpc>
            </a:pPr>
            <a:r>
              <a:rPr lang="en-US" sz="1600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4. </a:t>
            </a:r>
            <a:r>
              <a:rPr lang="en-US" sz="1600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Deklarasikan</a:t>
            </a:r>
            <a:r>
              <a:rPr lang="en-US" sz="1600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Activity </a:t>
            </a:r>
            <a:r>
              <a:rPr lang="en-US" sz="1600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dalam</a:t>
            </a:r>
            <a:r>
              <a:rPr lang="en-US" sz="1600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Android Manifest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731909" y="-403557"/>
            <a:ext cx="2862613" cy="11314814"/>
            <a:chOff x="0" y="0"/>
            <a:chExt cx="753939" cy="29800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53939" cy="2980033"/>
            </a:xfrm>
            <a:custGeom>
              <a:avLst/>
              <a:gdLst/>
              <a:ahLst/>
              <a:cxnLst/>
              <a:rect l="l" t="t" r="r" b="b"/>
              <a:pathLst>
                <a:path w="753939" h="2980033">
                  <a:moveTo>
                    <a:pt x="0" y="0"/>
                  </a:moveTo>
                  <a:lnTo>
                    <a:pt x="753939" y="0"/>
                  </a:lnTo>
                  <a:lnTo>
                    <a:pt x="753939" y="2980033"/>
                  </a:lnTo>
                  <a:lnTo>
                    <a:pt x="0" y="2980033"/>
                  </a:lnTo>
                  <a:close/>
                </a:path>
              </a:pathLst>
            </a:custGeom>
            <a:solidFill>
              <a:srgbClr val="D2C1B6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753939" cy="30181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576554" y="1577603"/>
            <a:ext cx="1965454" cy="835863"/>
            <a:chOff x="0" y="0"/>
            <a:chExt cx="517651" cy="22014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17651" cy="220145"/>
            </a:xfrm>
            <a:custGeom>
              <a:avLst/>
              <a:gdLst/>
              <a:ahLst/>
              <a:cxnLst/>
              <a:rect l="l" t="t" r="r" b="b"/>
              <a:pathLst>
                <a:path w="517651" h="220145">
                  <a:moveTo>
                    <a:pt x="0" y="0"/>
                  </a:moveTo>
                  <a:lnTo>
                    <a:pt x="517651" y="0"/>
                  </a:lnTo>
                  <a:lnTo>
                    <a:pt x="517651" y="220145"/>
                  </a:lnTo>
                  <a:lnTo>
                    <a:pt x="0" y="220145"/>
                  </a:lnTo>
                  <a:close/>
                </a:path>
              </a:pathLst>
            </a:custGeom>
            <a:solidFill>
              <a:srgbClr val="456882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517651" cy="2582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1275762" y="5482296"/>
            <a:ext cx="7326472" cy="6344394"/>
            <a:chOff x="0" y="0"/>
            <a:chExt cx="4282440" cy="37084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282440" cy="3708400"/>
            </a:xfrm>
            <a:custGeom>
              <a:avLst/>
              <a:gdLst/>
              <a:ahLst/>
              <a:cxnLst/>
              <a:rect l="l" t="t" r="r" b="b"/>
              <a:pathLst>
                <a:path w="4282440" h="3708400">
                  <a:moveTo>
                    <a:pt x="3211830" y="0"/>
                  </a:moveTo>
                  <a:lnTo>
                    <a:pt x="1070610" y="0"/>
                  </a:lnTo>
                  <a:lnTo>
                    <a:pt x="0" y="1854200"/>
                  </a:lnTo>
                  <a:lnTo>
                    <a:pt x="1070610" y="3708400"/>
                  </a:lnTo>
                  <a:lnTo>
                    <a:pt x="3211830" y="3708400"/>
                  </a:lnTo>
                  <a:lnTo>
                    <a:pt x="4282440" y="1854200"/>
                  </a:lnTo>
                  <a:close/>
                </a:path>
              </a:pathLst>
            </a:custGeom>
            <a:blipFill>
              <a:blip r:embed="rId2"/>
              <a:stretch>
                <a:fillRect l="-14887" r="-14887"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1473741" y="1577603"/>
            <a:ext cx="7122983" cy="10387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095"/>
              </a:lnSpc>
            </a:pPr>
            <a:r>
              <a:rPr lang="en-US" sz="8704" b="1" dirty="0" err="1">
                <a:solidFill>
                  <a:srgbClr val="1B3C53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Pertemuan</a:t>
            </a:r>
            <a:r>
              <a:rPr lang="en-US" sz="8704" b="1" dirty="0">
                <a:solidFill>
                  <a:srgbClr val="1B3C53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 3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674939" y="2249911"/>
            <a:ext cx="7613595" cy="21314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76"/>
              </a:lnSpc>
            </a:pPr>
            <a:r>
              <a:rPr lang="en-US" sz="1600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User Interface (UI) </a:t>
            </a:r>
            <a:r>
              <a:rPr lang="en-US" sz="1600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yaitu</a:t>
            </a:r>
            <a:r>
              <a:rPr lang="en-US" sz="1600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lang="en-US" sz="1600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antarmuka</a:t>
            </a:r>
            <a:r>
              <a:rPr lang="en-US" sz="1600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lang="en-US" sz="1600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pengguna</a:t>
            </a:r>
            <a:r>
              <a:rPr lang="en-US" sz="1600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dan User Experience</a:t>
            </a:r>
          </a:p>
          <a:p>
            <a:pPr algn="just">
              <a:lnSpc>
                <a:spcPts val="3376"/>
              </a:lnSpc>
            </a:pPr>
            <a:r>
              <a:rPr lang="en-US" sz="1600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(UX) </a:t>
            </a:r>
            <a:r>
              <a:rPr lang="en-US" sz="1600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atau</a:t>
            </a:r>
            <a:r>
              <a:rPr lang="en-US" sz="1600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lang="en-US" sz="1600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pengalaman</a:t>
            </a:r>
            <a:r>
              <a:rPr lang="en-US" sz="1600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lang="en-US" sz="1600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pengguna</a:t>
            </a:r>
            <a:r>
              <a:rPr lang="en-US" sz="1600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lang="en-US" sz="1600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adalah</a:t>
            </a:r>
            <a:r>
              <a:rPr lang="en-US" sz="1600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lang="en-US" sz="1600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aspek</a:t>
            </a:r>
            <a:r>
              <a:rPr lang="en-US" sz="1600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lang="en-US" sz="1600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penting</a:t>
            </a:r>
            <a:r>
              <a:rPr lang="en-US" sz="1600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lang="en-US" sz="1600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dalam</a:t>
            </a:r>
            <a:r>
              <a:rPr lang="en-US" sz="1600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</a:p>
          <a:p>
            <a:pPr algn="just">
              <a:lnSpc>
                <a:spcPts val="3376"/>
              </a:lnSpc>
            </a:pPr>
            <a:r>
              <a:rPr lang="en-US" sz="1600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mengembangkan</a:t>
            </a:r>
            <a:r>
              <a:rPr lang="en-US" sz="1600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lang="en-US" sz="1600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sebuah</a:t>
            </a:r>
            <a:r>
              <a:rPr lang="en-US" sz="1600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lang="en-US" sz="1600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aplikasi</a:t>
            </a:r>
            <a:r>
              <a:rPr lang="en-US" sz="1600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. </a:t>
            </a:r>
            <a:r>
              <a:rPr lang="en-US" sz="1600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Komponen</a:t>
            </a:r>
            <a:r>
              <a:rPr lang="en-US" sz="1600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lang="en-US" sz="1600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penting</a:t>
            </a:r>
            <a:r>
              <a:rPr lang="en-US" sz="1600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lang="en-US" sz="1600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dalam</a:t>
            </a:r>
            <a:r>
              <a:rPr lang="en-US" sz="1600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UI/UX </a:t>
            </a:r>
          </a:p>
          <a:p>
            <a:pPr algn="just">
              <a:lnSpc>
                <a:spcPts val="3376"/>
              </a:lnSpc>
            </a:pPr>
            <a:r>
              <a:rPr lang="en-US" sz="1600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antara</a:t>
            </a:r>
            <a:r>
              <a:rPr lang="en-US" sz="1600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lain View, View Group, Style, Theme, </a:t>
            </a:r>
            <a:r>
              <a:rPr lang="en-US" sz="1600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RecyclerView</a:t>
            </a:r>
            <a:r>
              <a:rPr lang="en-US" sz="1600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, Action Bar, </a:t>
            </a:r>
          </a:p>
          <a:p>
            <a:pPr algn="just">
              <a:lnSpc>
                <a:spcPts val="3376"/>
              </a:lnSpc>
            </a:pPr>
            <a:r>
              <a:rPr lang="en-US" sz="1600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Navigation, Localization.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684878" y="5873354"/>
            <a:ext cx="7613595" cy="3439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76"/>
              </a:lnSpc>
            </a:pPr>
            <a:r>
              <a:rPr lang="en-US" sz="1600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Pengguna</a:t>
            </a:r>
            <a:r>
              <a:rPr lang="en-US" sz="1600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lang="en-US" sz="1600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berinteraksi</a:t>
            </a:r>
            <a:r>
              <a:rPr lang="en-US" sz="1600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lang="en-US" sz="1600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dengan</a:t>
            </a:r>
            <a:r>
              <a:rPr lang="en-US" sz="1600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lang="en-US" sz="1600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aplikasi</a:t>
            </a:r>
            <a:r>
              <a:rPr lang="en-US" sz="1600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lang="en-US" sz="1600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dengan</a:t>
            </a:r>
            <a:r>
              <a:rPr lang="en-US" sz="1600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lang="en-US" sz="1600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menekan</a:t>
            </a:r>
            <a:r>
              <a:rPr lang="en-US" sz="1600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lang="en-US" sz="1600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atau</a:t>
            </a:r>
            <a:r>
              <a:rPr lang="en-US" sz="1600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lang="en-US" sz="1600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klik</a:t>
            </a:r>
            <a:r>
              <a:rPr lang="en-US" sz="1600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, </a:t>
            </a:r>
          </a:p>
          <a:p>
            <a:pPr algn="just">
              <a:lnSpc>
                <a:spcPts val="3376"/>
              </a:lnSpc>
            </a:pPr>
            <a:r>
              <a:rPr lang="en-US" sz="1600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mengetik</a:t>
            </a:r>
            <a:r>
              <a:rPr lang="en-US" sz="1600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, </a:t>
            </a:r>
            <a:r>
              <a:rPr lang="en-US" sz="1600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menggunakan</a:t>
            </a:r>
            <a:r>
              <a:rPr lang="en-US" sz="1600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gesture </a:t>
            </a:r>
            <a:r>
              <a:rPr lang="en-US" sz="1600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atau</a:t>
            </a:r>
            <a:r>
              <a:rPr lang="en-US" sz="1600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lang="en-US" sz="1600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gerakan</a:t>
            </a:r>
            <a:r>
              <a:rPr lang="en-US" sz="1600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, dan </a:t>
            </a:r>
            <a:r>
              <a:rPr lang="en-US" sz="1600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berbicara</a:t>
            </a:r>
            <a:r>
              <a:rPr lang="en-US" sz="1600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. Selain </a:t>
            </a:r>
          </a:p>
          <a:p>
            <a:pPr algn="just">
              <a:lnSpc>
                <a:spcPts val="3376"/>
              </a:lnSpc>
            </a:pPr>
            <a:r>
              <a:rPr lang="en-US" sz="1600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itu</a:t>
            </a:r>
            <a:r>
              <a:rPr lang="en-US" sz="1600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button juga </a:t>
            </a:r>
            <a:r>
              <a:rPr lang="en-US" sz="1600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dapat</a:t>
            </a:r>
            <a:r>
              <a:rPr lang="en-US" sz="1600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lang="en-US" sz="1600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melakukan</a:t>
            </a:r>
            <a:r>
              <a:rPr lang="en-US" sz="1600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lang="en-US" sz="1600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aksi</a:t>
            </a:r>
            <a:r>
              <a:rPr lang="en-US" sz="1600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. </a:t>
            </a:r>
            <a:r>
              <a:rPr lang="en-US" sz="1600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Elemen</a:t>
            </a:r>
            <a:r>
              <a:rPr lang="en-US" sz="1600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UI lain juga </a:t>
            </a:r>
            <a:r>
              <a:rPr lang="en-US" sz="1600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mengaktifkan</a:t>
            </a:r>
            <a:r>
              <a:rPr lang="en-US" sz="1600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</a:p>
          <a:p>
            <a:pPr algn="just">
              <a:lnSpc>
                <a:spcPts val="3376"/>
              </a:lnSpc>
            </a:pPr>
            <a:r>
              <a:rPr lang="en-US" sz="1600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input data dan </a:t>
            </a:r>
            <a:r>
              <a:rPr lang="en-US" sz="1600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navigasi</a:t>
            </a:r>
            <a:r>
              <a:rPr lang="en-US" sz="1600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. Dalam </a:t>
            </a:r>
            <a:r>
              <a:rPr lang="en-US" sz="1600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mendesain</a:t>
            </a:r>
            <a:r>
              <a:rPr lang="en-US" sz="1600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lang="en-US" sz="1600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interaksi</a:t>
            </a:r>
            <a:r>
              <a:rPr lang="en-US" sz="1600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lang="en-US" sz="1600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pengguna</a:t>
            </a:r>
            <a:r>
              <a:rPr lang="en-US" sz="1600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, sangat </a:t>
            </a:r>
          </a:p>
          <a:p>
            <a:pPr algn="just">
              <a:lnSpc>
                <a:spcPts val="3376"/>
              </a:lnSpc>
            </a:pPr>
            <a:r>
              <a:rPr lang="en-US" sz="1600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penting</a:t>
            </a:r>
            <a:r>
              <a:rPr lang="en-US" sz="1600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lang="en-US" sz="1600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untuk</a:t>
            </a:r>
            <a:r>
              <a:rPr lang="en-US" sz="1600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lang="en-US" sz="1600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memikirkan</a:t>
            </a:r>
            <a:r>
              <a:rPr lang="en-US" sz="1600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lang="en-US" sz="1600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bagaimana</a:t>
            </a:r>
            <a:r>
              <a:rPr lang="en-US" sz="1600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lang="en-US" sz="1600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pengguna</a:t>
            </a:r>
            <a:r>
              <a:rPr lang="en-US" sz="1600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lang="en-US" sz="1600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akan</a:t>
            </a:r>
            <a:r>
              <a:rPr lang="en-US" sz="1600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lang="en-US" sz="1600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menggunakan</a:t>
            </a:r>
            <a:r>
              <a:rPr lang="en-US" sz="1600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</a:p>
          <a:p>
            <a:pPr algn="just">
              <a:lnSpc>
                <a:spcPts val="3376"/>
              </a:lnSpc>
            </a:pPr>
            <a:r>
              <a:rPr lang="en-US" sz="1600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aplikasi</a:t>
            </a:r>
            <a:r>
              <a:rPr lang="en-US" sz="1600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, </a:t>
            </a:r>
            <a:r>
              <a:rPr lang="en-US" sz="1600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meminimalisir</a:t>
            </a:r>
            <a:r>
              <a:rPr lang="en-US" sz="1600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lang="en-US" sz="1600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langkah</a:t>
            </a:r>
            <a:r>
              <a:rPr lang="en-US" sz="1600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, </a:t>
            </a:r>
            <a:r>
              <a:rPr lang="en-US" sz="1600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menggunakan</a:t>
            </a:r>
            <a:r>
              <a:rPr lang="en-US" sz="1600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lang="en-US" sz="1600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elemen</a:t>
            </a:r>
            <a:r>
              <a:rPr lang="en-US" sz="1600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UI yang </a:t>
            </a:r>
            <a:r>
              <a:rPr lang="en-US" sz="1600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mudah</a:t>
            </a:r>
            <a:r>
              <a:rPr lang="en-US" sz="1600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</a:p>
          <a:p>
            <a:pPr algn="just">
              <a:lnSpc>
                <a:spcPts val="3376"/>
              </a:lnSpc>
            </a:pPr>
            <a:r>
              <a:rPr lang="en-US" sz="1600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diakses</a:t>
            </a:r>
            <a:r>
              <a:rPr lang="en-US" sz="1600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, </a:t>
            </a:r>
            <a:r>
              <a:rPr lang="en-US" sz="1600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dimengerti</a:t>
            </a:r>
            <a:r>
              <a:rPr lang="en-US" sz="1600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, dan </a:t>
            </a:r>
            <a:r>
              <a:rPr lang="en-US" sz="1600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dapat</a:t>
            </a:r>
            <a:r>
              <a:rPr lang="en-US" sz="1600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lang="en-US" sz="1600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digunakan</a:t>
            </a:r>
            <a:r>
              <a:rPr lang="en-US" sz="1600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, </a:t>
            </a:r>
            <a:r>
              <a:rPr lang="en-US" sz="1600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mengikuti</a:t>
            </a:r>
            <a:r>
              <a:rPr lang="en-US" sz="1600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best practices, </a:t>
            </a:r>
          </a:p>
          <a:p>
            <a:pPr algn="just">
              <a:lnSpc>
                <a:spcPts val="3376"/>
              </a:lnSpc>
            </a:pPr>
            <a:r>
              <a:rPr lang="en-US" sz="1600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dan </a:t>
            </a:r>
            <a:r>
              <a:rPr lang="en-US" sz="1600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sesuai</a:t>
            </a:r>
            <a:r>
              <a:rPr lang="en-US" sz="1600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lang="en-US" sz="1600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dengan</a:t>
            </a:r>
            <a:r>
              <a:rPr lang="en-US" sz="1600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lang="en-US" sz="1600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ekspektasi</a:t>
            </a:r>
            <a:r>
              <a:rPr lang="en-US" sz="1600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lang="en-US" sz="1600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pengguna</a:t>
            </a:r>
            <a:r>
              <a:rPr lang="en-US" sz="1600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444647" y="1714644"/>
            <a:ext cx="7590995" cy="5140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50309" lvl="1" indent="-325154" algn="l">
              <a:lnSpc>
                <a:spcPts val="4216"/>
              </a:lnSpc>
              <a:buFont typeface="Arial"/>
              <a:buChar char="•"/>
            </a:pPr>
            <a:r>
              <a:rPr lang="en-US" sz="3012" b="1" dirty="0">
                <a:solidFill>
                  <a:srgbClr val="7B4C26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Ui/</a:t>
            </a:r>
            <a:r>
              <a:rPr lang="en-US" sz="3012" b="1" dirty="0" err="1">
                <a:solidFill>
                  <a:srgbClr val="7B4C26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ux</a:t>
            </a:r>
            <a:r>
              <a:rPr lang="en-US" sz="3012" b="1" dirty="0">
                <a:solidFill>
                  <a:srgbClr val="7B4C26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586785" y="5196700"/>
            <a:ext cx="7590995" cy="5140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50309" lvl="1" indent="-325154" algn="l">
              <a:lnSpc>
                <a:spcPts val="4216"/>
              </a:lnSpc>
              <a:buFont typeface="Arial"/>
              <a:buChar char="•"/>
            </a:pPr>
            <a:r>
              <a:rPr lang="en-US" sz="3012" b="1" dirty="0" err="1">
                <a:solidFill>
                  <a:srgbClr val="7B4C26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Pengguna</a:t>
            </a:r>
            <a:r>
              <a:rPr lang="en-US" sz="3012" b="1" dirty="0">
                <a:solidFill>
                  <a:srgbClr val="7B4C26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 </a:t>
            </a:r>
            <a:r>
              <a:rPr lang="en-US" sz="3012" b="1" dirty="0" err="1">
                <a:solidFill>
                  <a:srgbClr val="7B4C26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interaksi</a:t>
            </a:r>
            <a:r>
              <a:rPr lang="en-US" sz="3012" b="1" dirty="0">
                <a:solidFill>
                  <a:srgbClr val="7B4C26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 </a:t>
            </a:r>
          </a:p>
        </p:txBody>
      </p:sp>
      <p:sp>
        <p:nvSpPr>
          <p:cNvPr id="15" name="Freeform 15"/>
          <p:cNvSpPr/>
          <p:nvPr/>
        </p:nvSpPr>
        <p:spPr>
          <a:xfrm>
            <a:off x="14441153" y="-1752900"/>
            <a:ext cx="3722063" cy="2997953"/>
          </a:xfrm>
          <a:custGeom>
            <a:avLst/>
            <a:gdLst/>
            <a:ahLst/>
            <a:cxnLst/>
            <a:rect l="l" t="t" r="r" b="b"/>
            <a:pathLst>
              <a:path w="3722063" h="2997953">
                <a:moveTo>
                  <a:pt x="0" y="0"/>
                </a:moveTo>
                <a:lnTo>
                  <a:pt x="3722063" y="0"/>
                </a:lnTo>
                <a:lnTo>
                  <a:pt x="3722063" y="2997953"/>
                </a:lnTo>
                <a:lnTo>
                  <a:pt x="0" y="29979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16" name="Group 16"/>
          <p:cNvGrpSpPr/>
          <p:nvPr/>
        </p:nvGrpSpPr>
        <p:grpSpPr>
          <a:xfrm>
            <a:off x="16035642" y="9258300"/>
            <a:ext cx="982727" cy="636341"/>
            <a:chOff x="0" y="0"/>
            <a:chExt cx="258825" cy="167596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58825" cy="167596"/>
            </a:xfrm>
            <a:custGeom>
              <a:avLst/>
              <a:gdLst/>
              <a:ahLst/>
              <a:cxnLst/>
              <a:rect l="l" t="t" r="r" b="b"/>
              <a:pathLst>
                <a:path w="258825" h="167596">
                  <a:moveTo>
                    <a:pt x="83798" y="0"/>
                  </a:moveTo>
                  <a:lnTo>
                    <a:pt x="175027" y="0"/>
                  </a:lnTo>
                  <a:cubicBezTo>
                    <a:pt x="221308" y="0"/>
                    <a:pt x="258825" y="37518"/>
                    <a:pt x="258825" y="83798"/>
                  </a:cubicBezTo>
                  <a:lnTo>
                    <a:pt x="258825" y="83798"/>
                  </a:lnTo>
                  <a:cubicBezTo>
                    <a:pt x="258825" y="130078"/>
                    <a:pt x="221308" y="167596"/>
                    <a:pt x="175027" y="167596"/>
                  </a:cubicBezTo>
                  <a:lnTo>
                    <a:pt x="83798" y="167596"/>
                  </a:lnTo>
                  <a:cubicBezTo>
                    <a:pt x="37518" y="167596"/>
                    <a:pt x="0" y="130078"/>
                    <a:pt x="0" y="83798"/>
                  </a:cubicBezTo>
                  <a:lnTo>
                    <a:pt x="0" y="83798"/>
                  </a:lnTo>
                  <a:cubicBezTo>
                    <a:pt x="0" y="37518"/>
                    <a:pt x="37518" y="0"/>
                    <a:pt x="83798" y="0"/>
                  </a:cubicBezTo>
                  <a:close/>
                </a:path>
              </a:pathLst>
            </a:custGeom>
            <a:solidFill>
              <a:srgbClr val="D2C1B6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258825" cy="2056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6181145" y="9248775"/>
            <a:ext cx="691721" cy="4844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28"/>
              </a:lnSpc>
            </a:pPr>
            <a:r>
              <a:rPr lang="en-US" sz="2877" b="1">
                <a:solidFill>
                  <a:srgbClr val="1B3C53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06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17067659" y="9415048"/>
            <a:ext cx="2388751" cy="318171"/>
            <a:chOff x="0" y="0"/>
            <a:chExt cx="629136" cy="83798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629136" cy="83798"/>
            </a:xfrm>
            <a:custGeom>
              <a:avLst/>
              <a:gdLst/>
              <a:ahLst/>
              <a:cxnLst/>
              <a:rect l="l" t="t" r="r" b="b"/>
              <a:pathLst>
                <a:path w="629136" h="83798">
                  <a:moveTo>
                    <a:pt x="41899" y="0"/>
                  </a:moveTo>
                  <a:lnTo>
                    <a:pt x="587237" y="0"/>
                  </a:lnTo>
                  <a:cubicBezTo>
                    <a:pt x="598349" y="0"/>
                    <a:pt x="609007" y="4414"/>
                    <a:pt x="616864" y="12272"/>
                  </a:cubicBezTo>
                  <a:cubicBezTo>
                    <a:pt x="624722" y="20130"/>
                    <a:pt x="629136" y="30787"/>
                    <a:pt x="629136" y="41899"/>
                  </a:cubicBezTo>
                  <a:lnTo>
                    <a:pt x="629136" y="41899"/>
                  </a:lnTo>
                  <a:cubicBezTo>
                    <a:pt x="629136" y="53011"/>
                    <a:pt x="624722" y="63668"/>
                    <a:pt x="616864" y="71526"/>
                  </a:cubicBezTo>
                  <a:cubicBezTo>
                    <a:pt x="609007" y="79384"/>
                    <a:pt x="598349" y="83798"/>
                    <a:pt x="587237" y="83798"/>
                  </a:cubicBezTo>
                  <a:lnTo>
                    <a:pt x="41899" y="83798"/>
                  </a:lnTo>
                  <a:cubicBezTo>
                    <a:pt x="30787" y="83798"/>
                    <a:pt x="20130" y="79384"/>
                    <a:pt x="12272" y="71526"/>
                  </a:cubicBezTo>
                  <a:cubicBezTo>
                    <a:pt x="4414" y="63668"/>
                    <a:pt x="0" y="53011"/>
                    <a:pt x="0" y="41899"/>
                  </a:cubicBezTo>
                  <a:lnTo>
                    <a:pt x="0" y="41899"/>
                  </a:lnTo>
                  <a:cubicBezTo>
                    <a:pt x="0" y="30787"/>
                    <a:pt x="4414" y="20130"/>
                    <a:pt x="12272" y="12272"/>
                  </a:cubicBezTo>
                  <a:cubicBezTo>
                    <a:pt x="20130" y="4414"/>
                    <a:pt x="30787" y="0"/>
                    <a:pt x="41899" y="0"/>
                  </a:cubicBezTo>
                  <a:close/>
                </a:path>
              </a:pathLst>
            </a:custGeom>
            <a:solidFill>
              <a:srgbClr val="D2C1B6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629136" cy="1218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3" name="TextBox 13">
            <a:extLst>
              <a:ext uri="{FF2B5EF4-FFF2-40B4-BE49-F238E27FC236}">
                <a16:creationId xmlns:a16="http://schemas.microsoft.com/office/drawing/2014/main" id="{480AA517-23D3-CF79-B93C-4BE425B77565}"/>
              </a:ext>
            </a:extLst>
          </p:cNvPr>
          <p:cNvSpPr txBox="1"/>
          <p:nvPr/>
        </p:nvSpPr>
        <p:spPr>
          <a:xfrm>
            <a:off x="1294389" y="2612090"/>
            <a:ext cx="7590995" cy="5140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5155" lvl="1" algn="l">
              <a:lnSpc>
                <a:spcPts val="4216"/>
              </a:lnSpc>
            </a:pPr>
            <a:r>
              <a:rPr lang="en-US" sz="3012" b="1" dirty="0">
                <a:solidFill>
                  <a:srgbClr val="7B4C26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UI/UX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34753" y="-403557"/>
            <a:ext cx="20829275" cy="5800518"/>
            <a:chOff x="0" y="0"/>
            <a:chExt cx="5485900" cy="152770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485900" cy="1527708"/>
            </a:xfrm>
            <a:custGeom>
              <a:avLst/>
              <a:gdLst/>
              <a:ahLst/>
              <a:cxnLst/>
              <a:rect l="l" t="t" r="r" b="b"/>
              <a:pathLst>
                <a:path w="5485900" h="1527708">
                  <a:moveTo>
                    <a:pt x="0" y="0"/>
                  </a:moveTo>
                  <a:lnTo>
                    <a:pt x="5485900" y="0"/>
                  </a:lnTo>
                  <a:lnTo>
                    <a:pt x="5485900" y="1527708"/>
                  </a:lnTo>
                  <a:lnTo>
                    <a:pt x="0" y="1527708"/>
                  </a:lnTo>
                  <a:close/>
                </a:path>
              </a:pathLst>
            </a:custGeom>
            <a:solidFill>
              <a:srgbClr val="1B3C53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485900" cy="15658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407292" y="3091080"/>
            <a:ext cx="12604108" cy="5945179"/>
            <a:chOff x="0" y="0"/>
            <a:chExt cx="1486594" cy="162428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86594" cy="1624288"/>
            </a:xfrm>
            <a:custGeom>
              <a:avLst/>
              <a:gdLst/>
              <a:ahLst/>
              <a:cxnLst/>
              <a:rect l="l" t="t" r="r" b="b"/>
              <a:pathLst>
                <a:path w="1486594" h="1624288">
                  <a:moveTo>
                    <a:pt x="64466" y="0"/>
                  </a:moveTo>
                  <a:lnTo>
                    <a:pt x="1422129" y="0"/>
                  </a:lnTo>
                  <a:cubicBezTo>
                    <a:pt x="1457732" y="0"/>
                    <a:pt x="1486594" y="28862"/>
                    <a:pt x="1486594" y="64466"/>
                  </a:cubicBezTo>
                  <a:lnTo>
                    <a:pt x="1486594" y="1559823"/>
                  </a:lnTo>
                  <a:cubicBezTo>
                    <a:pt x="1486594" y="1576920"/>
                    <a:pt x="1479802" y="1593317"/>
                    <a:pt x="1467713" y="1605407"/>
                  </a:cubicBezTo>
                  <a:cubicBezTo>
                    <a:pt x="1455623" y="1617497"/>
                    <a:pt x="1439226" y="1624288"/>
                    <a:pt x="1422129" y="1624288"/>
                  </a:cubicBezTo>
                  <a:lnTo>
                    <a:pt x="64466" y="1624288"/>
                  </a:lnTo>
                  <a:cubicBezTo>
                    <a:pt x="47368" y="1624288"/>
                    <a:pt x="30971" y="1617497"/>
                    <a:pt x="18882" y="1605407"/>
                  </a:cubicBezTo>
                  <a:cubicBezTo>
                    <a:pt x="6792" y="1593317"/>
                    <a:pt x="0" y="1576920"/>
                    <a:pt x="0" y="1559823"/>
                  </a:cubicBezTo>
                  <a:lnTo>
                    <a:pt x="0" y="64466"/>
                  </a:lnTo>
                  <a:cubicBezTo>
                    <a:pt x="0" y="47368"/>
                    <a:pt x="6792" y="30971"/>
                    <a:pt x="18882" y="18882"/>
                  </a:cubicBezTo>
                  <a:cubicBezTo>
                    <a:pt x="30971" y="6792"/>
                    <a:pt x="47368" y="0"/>
                    <a:pt x="64466" y="0"/>
                  </a:cubicBezTo>
                  <a:close/>
                </a:path>
              </a:pathLst>
            </a:custGeom>
            <a:solidFill>
              <a:srgbClr val="D2C1B6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486594" cy="16623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746107" y="3839987"/>
            <a:ext cx="5328019" cy="736122"/>
            <a:chOff x="0" y="0"/>
            <a:chExt cx="1403264" cy="19387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403264" cy="193876"/>
            </a:xfrm>
            <a:custGeom>
              <a:avLst/>
              <a:gdLst/>
              <a:ahLst/>
              <a:cxnLst/>
              <a:rect l="l" t="t" r="r" b="b"/>
              <a:pathLst>
                <a:path w="1403264" h="193876">
                  <a:moveTo>
                    <a:pt x="68294" y="0"/>
                  </a:moveTo>
                  <a:lnTo>
                    <a:pt x="1334971" y="0"/>
                  </a:lnTo>
                  <a:cubicBezTo>
                    <a:pt x="1353083" y="0"/>
                    <a:pt x="1370454" y="7195"/>
                    <a:pt x="1383261" y="20003"/>
                  </a:cubicBezTo>
                  <a:cubicBezTo>
                    <a:pt x="1396069" y="32810"/>
                    <a:pt x="1403264" y="50181"/>
                    <a:pt x="1403264" y="68294"/>
                  </a:cubicBezTo>
                  <a:lnTo>
                    <a:pt x="1403264" y="125582"/>
                  </a:lnTo>
                  <a:cubicBezTo>
                    <a:pt x="1403264" y="163300"/>
                    <a:pt x="1372688" y="193876"/>
                    <a:pt x="1334971" y="193876"/>
                  </a:cubicBezTo>
                  <a:lnTo>
                    <a:pt x="68294" y="193876"/>
                  </a:lnTo>
                  <a:cubicBezTo>
                    <a:pt x="50181" y="193876"/>
                    <a:pt x="32810" y="186681"/>
                    <a:pt x="20003" y="173873"/>
                  </a:cubicBezTo>
                  <a:cubicBezTo>
                    <a:pt x="7195" y="161065"/>
                    <a:pt x="0" y="143695"/>
                    <a:pt x="0" y="125582"/>
                  </a:cubicBezTo>
                  <a:lnTo>
                    <a:pt x="0" y="68294"/>
                  </a:lnTo>
                  <a:cubicBezTo>
                    <a:pt x="0" y="50181"/>
                    <a:pt x="7195" y="32810"/>
                    <a:pt x="20003" y="20003"/>
                  </a:cubicBezTo>
                  <a:cubicBezTo>
                    <a:pt x="32810" y="7195"/>
                    <a:pt x="50181" y="0"/>
                    <a:pt x="68294" y="0"/>
                  </a:cubicBezTo>
                  <a:close/>
                </a:path>
              </a:pathLst>
            </a:custGeom>
            <a:solidFill>
              <a:srgbClr val="456882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403264" cy="2319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>
            <a:off x="16510623" y="321695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 flipV="1">
            <a:off x="-74559" y="8017375"/>
            <a:ext cx="2481851" cy="2481851"/>
          </a:xfrm>
          <a:custGeom>
            <a:avLst/>
            <a:gdLst/>
            <a:ahLst/>
            <a:cxnLst/>
            <a:rect l="l" t="t" r="r" b="b"/>
            <a:pathLst>
              <a:path w="2481851" h="2481851">
                <a:moveTo>
                  <a:pt x="0" y="2481850"/>
                </a:moveTo>
                <a:lnTo>
                  <a:pt x="2481851" y="2481850"/>
                </a:lnTo>
                <a:lnTo>
                  <a:pt x="2481851" y="0"/>
                </a:lnTo>
                <a:lnTo>
                  <a:pt x="0" y="0"/>
                </a:lnTo>
                <a:lnTo>
                  <a:pt x="0" y="248185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3276600" y="4647615"/>
            <a:ext cx="11332229" cy="38959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376"/>
              </a:lnSpc>
            </a:pPr>
            <a:r>
              <a:rPr lang="en-US" sz="2000" dirty="0" err="1">
                <a:latin typeface="Libre Baskerville"/>
                <a:ea typeface="Libre Baskerville"/>
                <a:cs typeface="Libre Baskerville"/>
                <a:sym typeface="Libre Baskerville"/>
              </a:rPr>
              <a:t>Komponen</a:t>
            </a:r>
            <a:r>
              <a:rPr lang="en-US" sz="2000" dirty="0"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lang="en-US" sz="2000" dirty="0" err="1">
                <a:latin typeface="Libre Baskerville"/>
                <a:ea typeface="Libre Baskerville"/>
                <a:cs typeface="Libre Baskerville"/>
                <a:sym typeface="Libre Baskerville"/>
              </a:rPr>
              <a:t>untuk</a:t>
            </a:r>
            <a:r>
              <a:rPr lang="en-US" sz="2000" dirty="0">
                <a:latin typeface="Libre Baskerville"/>
                <a:ea typeface="Libre Baskerville"/>
                <a:cs typeface="Libre Baskerville"/>
                <a:sym typeface="Libre Baskerville"/>
              </a:rPr>
              <a:t> input </a:t>
            </a:r>
            <a:r>
              <a:rPr lang="en-US" sz="2000" dirty="0" err="1">
                <a:latin typeface="Libre Baskerville"/>
                <a:ea typeface="Libre Baskerville"/>
                <a:cs typeface="Libre Baskerville"/>
                <a:sym typeface="Libre Baskerville"/>
              </a:rPr>
              <a:t>kontrol</a:t>
            </a:r>
            <a:r>
              <a:rPr lang="en-US" sz="2000" dirty="0"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lang="en-US" sz="2000" dirty="0" err="1">
                <a:latin typeface="Libre Baskerville"/>
                <a:ea typeface="Libre Baskerville"/>
                <a:cs typeface="Libre Baskerville"/>
                <a:sym typeface="Libre Baskerville"/>
              </a:rPr>
              <a:t>antara</a:t>
            </a:r>
            <a:r>
              <a:rPr lang="en-US" sz="2000" dirty="0">
                <a:latin typeface="Libre Baskerville"/>
                <a:ea typeface="Libre Baskerville"/>
                <a:cs typeface="Libre Baskerville"/>
                <a:sym typeface="Libre Baskerville"/>
              </a:rPr>
              <a:t> lain </a:t>
            </a:r>
            <a:r>
              <a:rPr lang="en-US" sz="2000" dirty="0" err="1">
                <a:latin typeface="Libre Baskerville"/>
                <a:ea typeface="Libre Baskerville"/>
                <a:cs typeface="Libre Baskerville"/>
                <a:sym typeface="Libre Baskerville"/>
              </a:rPr>
              <a:t>EditText</a:t>
            </a:r>
            <a:r>
              <a:rPr lang="en-US" sz="2000" dirty="0">
                <a:latin typeface="Libre Baskerville"/>
                <a:ea typeface="Libre Baskerville"/>
                <a:cs typeface="Libre Baskerville"/>
                <a:sym typeface="Libre Baskerville"/>
              </a:rPr>
              <a:t>, </a:t>
            </a:r>
            <a:r>
              <a:rPr lang="en-US" sz="2000" dirty="0" err="1">
                <a:latin typeface="Libre Baskerville"/>
                <a:ea typeface="Libre Baskerville"/>
                <a:cs typeface="Libre Baskerville"/>
                <a:sym typeface="Libre Baskerville"/>
              </a:rPr>
              <a:t>SeekBar</a:t>
            </a:r>
            <a:r>
              <a:rPr lang="en-US" sz="2000" dirty="0">
                <a:latin typeface="Libre Baskerville"/>
                <a:ea typeface="Libre Baskerville"/>
                <a:cs typeface="Libre Baskerville"/>
                <a:sym typeface="Libre Baskerville"/>
              </a:rPr>
              <a:t>, </a:t>
            </a:r>
          </a:p>
          <a:p>
            <a:pPr algn="just">
              <a:lnSpc>
                <a:spcPts val="3376"/>
              </a:lnSpc>
            </a:pPr>
            <a:r>
              <a:rPr lang="en-US" sz="2000" dirty="0" err="1">
                <a:latin typeface="Libre Baskerville"/>
                <a:ea typeface="Libre Baskerville"/>
                <a:cs typeface="Libre Baskerville"/>
                <a:sym typeface="Libre Baskerville"/>
              </a:rPr>
              <a:t>CheckBox</a:t>
            </a:r>
            <a:r>
              <a:rPr lang="en-US" sz="2000" dirty="0">
                <a:latin typeface="Libre Baskerville"/>
                <a:ea typeface="Libre Baskerville"/>
                <a:cs typeface="Libre Baskerville"/>
                <a:sym typeface="Libre Baskerville"/>
              </a:rPr>
              <a:t>, </a:t>
            </a:r>
            <a:r>
              <a:rPr lang="en-US" sz="2000" dirty="0" err="1">
                <a:latin typeface="Libre Baskerville"/>
                <a:ea typeface="Libre Baskerville"/>
                <a:cs typeface="Libre Baskerville"/>
                <a:sym typeface="Libre Baskerville"/>
              </a:rPr>
              <a:t>RadioButton</a:t>
            </a:r>
            <a:r>
              <a:rPr lang="en-US" sz="2000" dirty="0">
                <a:latin typeface="Libre Baskerville"/>
                <a:ea typeface="Libre Baskerville"/>
                <a:cs typeface="Libre Baskerville"/>
                <a:sym typeface="Libre Baskerville"/>
              </a:rPr>
              <a:t>, Switch, Spinner. Cara input </a:t>
            </a:r>
            <a:r>
              <a:rPr lang="en-US" sz="2000" dirty="0" err="1">
                <a:latin typeface="Libre Baskerville"/>
                <a:ea typeface="Libre Baskerville"/>
                <a:cs typeface="Libre Baskerville"/>
                <a:sym typeface="Libre Baskerville"/>
              </a:rPr>
              <a:t>kontrol</a:t>
            </a:r>
            <a:r>
              <a:rPr lang="en-US" sz="2000" dirty="0"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lang="en-US" sz="2000" dirty="0" err="1">
                <a:latin typeface="Libre Baskerville"/>
                <a:ea typeface="Libre Baskerville"/>
                <a:cs typeface="Libre Baskerville"/>
                <a:sym typeface="Libre Baskerville"/>
              </a:rPr>
              <a:t>bekerja</a:t>
            </a:r>
            <a:r>
              <a:rPr lang="en-US" sz="2000" dirty="0">
                <a:latin typeface="Libre Baskerville"/>
                <a:ea typeface="Libre Baskerville"/>
                <a:cs typeface="Libre Baskerville"/>
                <a:sym typeface="Libre Baskerville"/>
              </a:rPr>
              <a:t>:</a:t>
            </a:r>
          </a:p>
          <a:p>
            <a:pPr algn="just">
              <a:lnSpc>
                <a:spcPts val="3376"/>
              </a:lnSpc>
            </a:pPr>
            <a:r>
              <a:rPr lang="en-US" sz="2000" dirty="0">
                <a:latin typeface="Libre Baskerville"/>
                <a:ea typeface="Libre Baskerville"/>
                <a:cs typeface="Libre Baskerville"/>
                <a:sym typeface="Libre Baskerville"/>
              </a:rPr>
              <a:t>1. </a:t>
            </a:r>
            <a:r>
              <a:rPr lang="en-US" sz="2000" dirty="0" err="1">
                <a:latin typeface="Libre Baskerville"/>
                <a:ea typeface="Libre Baskerville"/>
                <a:cs typeface="Libre Baskerville"/>
                <a:sym typeface="Libre Baskerville"/>
              </a:rPr>
              <a:t>Gunakan</a:t>
            </a:r>
            <a:r>
              <a:rPr lang="en-US" sz="2000" dirty="0"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lang="en-US" sz="2000" dirty="0" err="1">
                <a:latin typeface="Libre Baskerville"/>
                <a:ea typeface="Libre Baskerville"/>
                <a:cs typeface="Libre Baskerville"/>
                <a:sym typeface="Libre Baskerville"/>
              </a:rPr>
              <a:t>EditText</a:t>
            </a:r>
            <a:r>
              <a:rPr lang="en-US" sz="2000" dirty="0"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lang="en-US" sz="2000" dirty="0" err="1">
                <a:latin typeface="Libre Baskerville"/>
                <a:ea typeface="Libre Baskerville"/>
                <a:cs typeface="Libre Baskerville"/>
                <a:sym typeface="Libre Baskerville"/>
              </a:rPr>
              <a:t>untuk</a:t>
            </a:r>
            <a:r>
              <a:rPr lang="en-US" sz="2000" dirty="0"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lang="en-US" sz="2000" dirty="0" err="1">
                <a:latin typeface="Libre Baskerville"/>
                <a:ea typeface="Libre Baskerville"/>
                <a:cs typeface="Libre Baskerville"/>
                <a:sym typeface="Libre Baskerville"/>
              </a:rPr>
              <a:t>menginput</a:t>
            </a:r>
            <a:r>
              <a:rPr lang="en-US" sz="2000" dirty="0">
                <a:latin typeface="Libre Baskerville"/>
                <a:ea typeface="Libre Baskerville"/>
                <a:cs typeface="Libre Baskerville"/>
                <a:sym typeface="Libre Baskerville"/>
              </a:rPr>
              <a:t> text </a:t>
            </a:r>
            <a:r>
              <a:rPr lang="en-US" sz="2000" dirty="0" err="1">
                <a:latin typeface="Libre Baskerville"/>
                <a:ea typeface="Libre Baskerville"/>
                <a:cs typeface="Libre Baskerville"/>
                <a:sym typeface="Libre Baskerville"/>
              </a:rPr>
              <a:t>menggunakan</a:t>
            </a:r>
            <a:r>
              <a:rPr lang="en-US" sz="2000" dirty="0">
                <a:latin typeface="Libre Baskerville"/>
                <a:ea typeface="Libre Baskerville"/>
                <a:cs typeface="Libre Baskerville"/>
                <a:sym typeface="Libre Baskerville"/>
              </a:rPr>
              <a:t> keyboard</a:t>
            </a:r>
          </a:p>
          <a:p>
            <a:pPr algn="just">
              <a:lnSpc>
                <a:spcPts val="3376"/>
              </a:lnSpc>
            </a:pPr>
            <a:r>
              <a:rPr lang="en-US" sz="2000" dirty="0">
                <a:latin typeface="Libre Baskerville"/>
                <a:ea typeface="Libre Baskerville"/>
                <a:cs typeface="Libre Baskerville"/>
                <a:sym typeface="Libre Baskerville"/>
              </a:rPr>
              <a:t>2. </a:t>
            </a:r>
            <a:r>
              <a:rPr lang="en-US" sz="2000" dirty="0" err="1">
                <a:latin typeface="Libre Baskerville"/>
                <a:ea typeface="Libre Baskerville"/>
                <a:cs typeface="Libre Baskerville"/>
                <a:sym typeface="Libre Baskerville"/>
              </a:rPr>
              <a:t>Gunakan</a:t>
            </a:r>
            <a:r>
              <a:rPr lang="en-US" sz="2000" dirty="0"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lang="en-US" sz="2000" dirty="0" err="1">
                <a:latin typeface="Libre Baskerville"/>
                <a:ea typeface="Libre Baskerville"/>
                <a:cs typeface="Libre Baskerville"/>
                <a:sym typeface="Libre Baskerville"/>
              </a:rPr>
              <a:t>SeekBar</a:t>
            </a:r>
            <a:r>
              <a:rPr lang="en-US" sz="2000" dirty="0"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lang="en-US" sz="2000" dirty="0" err="1">
                <a:latin typeface="Libre Baskerville"/>
                <a:ea typeface="Libre Baskerville"/>
                <a:cs typeface="Libre Baskerville"/>
                <a:sym typeface="Libre Baskerville"/>
              </a:rPr>
              <a:t>untuk</a:t>
            </a:r>
            <a:r>
              <a:rPr lang="en-US" sz="2000" dirty="0">
                <a:latin typeface="Libre Baskerville"/>
                <a:ea typeface="Libre Baskerville"/>
                <a:cs typeface="Libre Baskerville"/>
                <a:sym typeface="Libre Baskerville"/>
              </a:rPr>
              <a:t> sliding left </a:t>
            </a:r>
            <a:r>
              <a:rPr lang="en-US" sz="2000" dirty="0" err="1">
                <a:latin typeface="Libre Baskerville"/>
                <a:ea typeface="Libre Baskerville"/>
                <a:cs typeface="Libre Baskerville"/>
                <a:sym typeface="Libre Baskerville"/>
              </a:rPr>
              <a:t>atau</a:t>
            </a:r>
            <a:r>
              <a:rPr lang="en-US" sz="2000" dirty="0">
                <a:latin typeface="Libre Baskerville"/>
                <a:ea typeface="Libre Baskerville"/>
                <a:cs typeface="Libre Baskerville"/>
                <a:sym typeface="Libre Baskerville"/>
              </a:rPr>
              <a:t> right </a:t>
            </a:r>
            <a:r>
              <a:rPr lang="en-US" sz="2000" dirty="0" err="1">
                <a:latin typeface="Libre Baskerville"/>
                <a:ea typeface="Libre Baskerville"/>
                <a:cs typeface="Libre Baskerville"/>
                <a:sym typeface="Libre Baskerville"/>
              </a:rPr>
              <a:t>untuk</a:t>
            </a:r>
            <a:r>
              <a:rPr lang="en-US" sz="2000" dirty="0">
                <a:latin typeface="Libre Baskerville"/>
                <a:ea typeface="Libre Baskerville"/>
                <a:cs typeface="Libre Baskerville"/>
                <a:sym typeface="Libre Baskerville"/>
              </a:rPr>
              <a:t> setting</a:t>
            </a:r>
          </a:p>
          <a:p>
            <a:pPr algn="just">
              <a:lnSpc>
                <a:spcPts val="3376"/>
              </a:lnSpc>
            </a:pPr>
            <a:r>
              <a:rPr lang="en-US" sz="2000" dirty="0">
                <a:latin typeface="Libre Baskerville"/>
                <a:ea typeface="Libre Baskerville"/>
                <a:cs typeface="Libre Baskerville"/>
                <a:sym typeface="Libre Baskerville"/>
              </a:rPr>
              <a:t>3. </a:t>
            </a:r>
            <a:r>
              <a:rPr lang="en-US" sz="2000" dirty="0" err="1">
                <a:latin typeface="Libre Baskerville"/>
                <a:ea typeface="Libre Baskerville"/>
                <a:cs typeface="Libre Baskerville"/>
                <a:sym typeface="Libre Baskerville"/>
              </a:rPr>
              <a:t>Kombinasikan</a:t>
            </a:r>
            <a:r>
              <a:rPr lang="en-US" sz="2000" dirty="0"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lang="en-US" sz="2000" dirty="0" err="1">
                <a:latin typeface="Libre Baskerville"/>
                <a:ea typeface="Libre Baskerville"/>
                <a:cs typeface="Libre Baskerville"/>
                <a:sym typeface="Libre Baskerville"/>
              </a:rPr>
              <a:t>ChecBox</a:t>
            </a:r>
            <a:r>
              <a:rPr lang="en-US" sz="2000" dirty="0"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lang="en-US" sz="2000" dirty="0" err="1">
                <a:latin typeface="Libre Baskerville"/>
                <a:ea typeface="Libre Baskerville"/>
                <a:cs typeface="Libre Baskerville"/>
                <a:sym typeface="Libre Baskerville"/>
              </a:rPr>
              <a:t>untuk</a:t>
            </a:r>
            <a:r>
              <a:rPr lang="en-US" sz="2000" dirty="0"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lang="en-US" sz="2000" dirty="0" err="1">
                <a:latin typeface="Libre Baskerville"/>
                <a:ea typeface="Libre Baskerville"/>
                <a:cs typeface="Libre Baskerville"/>
                <a:sym typeface="Libre Baskerville"/>
              </a:rPr>
              <a:t>memilih</a:t>
            </a:r>
            <a:r>
              <a:rPr lang="en-US" sz="2000" dirty="0"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lang="en-US" sz="2000" dirty="0" err="1">
                <a:latin typeface="Libre Baskerville"/>
                <a:ea typeface="Libre Baskerville"/>
                <a:cs typeface="Libre Baskerville"/>
                <a:sym typeface="Libre Baskerville"/>
              </a:rPr>
              <a:t>lebih</a:t>
            </a:r>
            <a:r>
              <a:rPr lang="en-US" sz="2000" dirty="0"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lang="en-US" sz="2000" dirty="0" err="1">
                <a:latin typeface="Libre Baskerville"/>
                <a:ea typeface="Libre Baskerville"/>
                <a:cs typeface="Libre Baskerville"/>
                <a:sym typeface="Libre Baskerville"/>
              </a:rPr>
              <a:t>dari</a:t>
            </a:r>
            <a:r>
              <a:rPr lang="en-US" sz="2000" dirty="0"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lang="en-US" sz="2000" dirty="0" err="1">
                <a:latin typeface="Libre Baskerville"/>
                <a:ea typeface="Libre Baskerville"/>
                <a:cs typeface="Libre Baskerville"/>
                <a:sym typeface="Libre Baskerville"/>
              </a:rPr>
              <a:t>satu</a:t>
            </a:r>
            <a:r>
              <a:rPr lang="en-US" sz="2000" dirty="0"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lang="en-US" sz="2000" dirty="0" err="1">
                <a:latin typeface="Libre Baskerville"/>
                <a:ea typeface="Libre Baskerville"/>
                <a:cs typeface="Libre Baskerville"/>
                <a:sym typeface="Libre Baskerville"/>
              </a:rPr>
              <a:t>opsi</a:t>
            </a:r>
            <a:endParaRPr lang="en-US" sz="2000" dirty="0"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algn="just">
              <a:lnSpc>
                <a:spcPts val="3376"/>
              </a:lnSpc>
            </a:pPr>
            <a:r>
              <a:rPr lang="en-US" sz="2000" dirty="0">
                <a:latin typeface="Libre Baskerville"/>
                <a:ea typeface="Libre Baskerville"/>
                <a:cs typeface="Libre Baskerville"/>
                <a:sym typeface="Libre Baskerville"/>
              </a:rPr>
              <a:t>4. </a:t>
            </a:r>
            <a:r>
              <a:rPr lang="en-US" sz="2000" dirty="0" err="1">
                <a:latin typeface="Libre Baskerville"/>
                <a:ea typeface="Libre Baskerville"/>
                <a:cs typeface="Libre Baskerville"/>
                <a:sym typeface="Libre Baskerville"/>
              </a:rPr>
              <a:t>Kombinasikan</a:t>
            </a:r>
            <a:r>
              <a:rPr lang="en-US" sz="2000" dirty="0"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lang="en-US" sz="2000" dirty="0" err="1">
                <a:latin typeface="Libre Baskerville"/>
                <a:ea typeface="Libre Baskerville"/>
                <a:cs typeface="Libre Baskerville"/>
                <a:sym typeface="Libre Baskerville"/>
              </a:rPr>
              <a:t>RadioButton</a:t>
            </a:r>
            <a:r>
              <a:rPr lang="en-US" sz="2000" dirty="0"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lang="en-US" sz="2000" dirty="0" err="1">
                <a:latin typeface="Libre Baskerville"/>
                <a:ea typeface="Libre Baskerville"/>
                <a:cs typeface="Libre Baskerville"/>
                <a:sym typeface="Libre Baskerville"/>
              </a:rPr>
              <a:t>kedalam</a:t>
            </a:r>
            <a:r>
              <a:rPr lang="en-US" sz="2000" dirty="0"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lang="en-US" sz="2000" dirty="0" err="1">
                <a:latin typeface="Libre Baskerville"/>
                <a:ea typeface="Libre Baskerville"/>
                <a:cs typeface="Libre Baskerville"/>
                <a:sym typeface="Libre Baskerville"/>
              </a:rPr>
              <a:t>RadioGroup</a:t>
            </a:r>
            <a:r>
              <a:rPr lang="en-US" sz="2000" dirty="0"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lang="en-US" sz="2000" dirty="0" err="1">
                <a:latin typeface="Libre Baskerville"/>
                <a:ea typeface="Libre Baskerville"/>
                <a:cs typeface="Libre Baskerville"/>
                <a:sym typeface="Libre Baskerville"/>
              </a:rPr>
              <a:t>untuk</a:t>
            </a:r>
            <a:r>
              <a:rPr lang="en-US" sz="2000" dirty="0"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lang="en-US" sz="2000" dirty="0" err="1">
                <a:latin typeface="Libre Baskerville"/>
                <a:ea typeface="Libre Baskerville"/>
                <a:cs typeface="Libre Baskerville"/>
                <a:sym typeface="Libre Baskerville"/>
              </a:rPr>
              <a:t>membuat</a:t>
            </a:r>
            <a:r>
              <a:rPr lang="en-US" sz="2000" dirty="0"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</a:p>
          <a:p>
            <a:pPr algn="just">
              <a:lnSpc>
                <a:spcPts val="3376"/>
              </a:lnSpc>
            </a:pPr>
            <a:r>
              <a:rPr lang="en-US" sz="2000" dirty="0" err="1">
                <a:latin typeface="Libre Baskerville"/>
                <a:ea typeface="Libre Baskerville"/>
                <a:cs typeface="Libre Baskerville"/>
                <a:sym typeface="Libre Baskerville"/>
              </a:rPr>
              <a:t>hanya</a:t>
            </a:r>
            <a:r>
              <a:rPr lang="en-US" sz="2000" dirty="0"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lang="en-US" sz="2000" dirty="0" err="1">
                <a:latin typeface="Libre Baskerville"/>
                <a:ea typeface="Libre Baskerville"/>
                <a:cs typeface="Libre Baskerville"/>
                <a:sym typeface="Libre Baskerville"/>
              </a:rPr>
              <a:t>satu</a:t>
            </a:r>
            <a:r>
              <a:rPr lang="en-US" sz="2000" dirty="0"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lang="en-US" sz="2000" dirty="0" err="1">
                <a:latin typeface="Libre Baskerville"/>
                <a:ea typeface="Libre Baskerville"/>
                <a:cs typeface="Libre Baskerville"/>
                <a:sym typeface="Libre Baskerville"/>
              </a:rPr>
              <a:t>pilihan</a:t>
            </a:r>
            <a:r>
              <a:rPr lang="en-US" sz="2000" dirty="0">
                <a:latin typeface="Libre Baskerville"/>
                <a:ea typeface="Libre Baskerville"/>
                <a:cs typeface="Libre Baskerville"/>
                <a:sym typeface="Libre Baskerville"/>
              </a:rPr>
              <a:t>.</a:t>
            </a:r>
          </a:p>
          <a:p>
            <a:pPr algn="just">
              <a:lnSpc>
                <a:spcPts val="3376"/>
              </a:lnSpc>
            </a:pPr>
            <a:r>
              <a:rPr lang="en-US" sz="2000" dirty="0">
                <a:latin typeface="Libre Baskerville"/>
                <a:ea typeface="Libre Baskerville"/>
                <a:cs typeface="Libre Baskerville"/>
                <a:sym typeface="Libre Baskerville"/>
              </a:rPr>
              <a:t>5. </a:t>
            </a:r>
            <a:r>
              <a:rPr lang="en-US" sz="2000" dirty="0" err="1">
                <a:latin typeface="Libre Baskerville"/>
                <a:ea typeface="Libre Baskerville"/>
                <a:cs typeface="Libre Baskerville"/>
                <a:sym typeface="Libre Baskerville"/>
              </a:rPr>
              <a:t>Gunakan</a:t>
            </a:r>
            <a:r>
              <a:rPr lang="en-US" sz="2000" dirty="0">
                <a:latin typeface="Libre Baskerville"/>
                <a:ea typeface="Libre Baskerville"/>
                <a:cs typeface="Libre Baskerville"/>
                <a:sym typeface="Libre Baskerville"/>
              </a:rPr>
              <a:t> Switch </a:t>
            </a:r>
            <a:r>
              <a:rPr lang="en-US" sz="2000" dirty="0" err="1">
                <a:latin typeface="Libre Baskerville"/>
                <a:ea typeface="Libre Baskerville"/>
                <a:cs typeface="Libre Baskerville"/>
                <a:sym typeface="Libre Baskerville"/>
              </a:rPr>
              <a:t>untuk</a:t>
            </a:r>
            <a:r>
              <a:rPr lang="en-US" sz="2000" dirty="0"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lang="en-US" sz="2000" dirty="0" err="1">
                <a:latin typeface="Libre Baskerville"/>
                <a:ea typeface="Libre Baskerville"/>
                <a:cs typeface="Libre Baskerville"/>
                <a:sym typeface="Libre Baskerville"/>
              </a:rPr>
              <a:t>menekan</a:t>
            </a:r>
            <a:r>
              <a:rPr lang="en-US" sz="2000" dirty="0">
                <a:latin typeface="Libre Baskerville"/>
                <a:ea typeface="Libre Baskerville"/>
                <a:cs typeface="Libre Baskerville"/>
                <a:sym typeface="Libre Baskerville"/>
              </a:rPr>
              <a:t> on </a:t>
            </a:r>
            <a:r>
              <a:rPr lang="en-US" sz="2000" dirty="0" err="1">
                <a:latin typeface="Libre Baskerville"/>
                <a:ea typeface="Libre Baskerville"/>
                <a:cs typeface="Libre Baskerville"/>
                <a:sym typeface="Libre Baskerville"/>
              </a:rPr>
              <a:t>atau</a:t>
            </a:r>
            <a:r>
              <a:rPr lang="en-US" sz="2000" dirty="0">
                <a:latin typeface="Libre Baskerville"/>
                <a:ea typeface="Libre Baskerville"/>
                <a:cs typeface="Libre Baskerville"/>
                <a:sym typeface="Libre Baskerville"/>
              </a:rPr>
              <a:t> off.</a:t>
            </a:r>
          </a:p>
          <a:p>
            <a:pPr algn="just">
              <a:lnSpc>
                <a:spcPts val="3376"/>
              </a:lnSpc>
            </a:pPr>
            <a:r>
              <a:rPr lang="en-US" sz="2000" dirty="0">
                <a:latin typeface="Libre Baskerville"/>
                <a:ea typeface="Libre Baskerville"/>
                <a:cs typeface="Libre Baskerville"/>
                <a:sym typeface="Libre Baskerville"/>
              </a:rPr>
              <a:t>6. </a:t>
            </a:r>
            <a:r>
              <a:rPr lang="en-US" sz="2000" dirty="0" err="1">
                <a:latin typeface="Libre Baskerville"/>
                <a:ea typeface="Libre Baskerville"/>
                <a:cs typeface="Libre Baskerville"/>
                <a:sym typeface="Libre Baskerville"/>
              </a:rPr>
              <a:t>Gunakan</a:t>
            </a:r>
            <a:r>
              <a:rPr lang="en-US" sz="2000" dirty="0">
                <a:latin typeface="Libre Baskerville"/>
                <a:ea typeface="Libre Baskerville"/>
                <a:cs typeface="Libre Baskerville"/>
                <a:sym typeface="Libre Baskerville"/>
              </a:rPr>
              <a:t> Spinner </a:t>
            </a:r>
            <a:r>
              <a:rPr lang="en-US" sz="2000" dirty="0" err="1">
                <a:latin typeface="Libre Baskerville"/>
                <a:ea typeface="Libre Baskerville"/>
                <a:cs typeface="Libre Baskerville"/>
                <a:sym typeface="Libre Baskerville"/>
              </a:rPr>
              <a:t>untuk</a:t>
            </a:r>
            <a:r>
              <a:rPr lang="en-US" sz="2000" dirty="0"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lang="en-US" sz="2000" dirty="0" err="1">
                <a:latin typeface="Libre Baskerville"/>
                <a:ea typeface="Libre Baskerville"/>
                <a:cs typeface="Libre Baskerville"/>
                <a:sym typeface="Libre Baskerville"/>
              </a:rPr>
              <a:t>memilih</a:t>
            </a:r>
            <a:r>
              <a:rPr lang="en-US" sz="2000" dirty="0">
                <a:latin typeface="Libre Baskerville"/>
                <a:ea typeface="Libre Baskerville"/>
                <a:cs typeface="Libre Baskerville"/>
                <a:sym typeface="Libre Baskerville"/>
              </a:rPr>
              <a:t> single item </a:t>
            </a:r>
            <a:r>
              <a:rPr lang="en-US" sz="2000" dirty="0" err="1">
                <a:latin typeface="Libre Baskerville"/>
                <a:ea typeface="Libre Baskerville"/>
                <a:cs typeface="Libre Baskerville"/>
                <a:sym typeface="Libre Baskerville"/>
              </a:rPr>
              <a:t>dari</a:t>
            </a:r>
            <a:r>
              <a:rPr lang="en-US" sz="2000" dirty="0">
                <a:latin typeface="Libre Baskerville"/>
                <a:ea typeface="Libre Baskerville"/>
                <a:cs typeface="Libre Baskerville"/>
                <a:sym typeface="Libre Baskerville"/>
              </a:rPr>
              <a:t> list.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836666" y="3922452"/>
            <a:ext cx="2980682" cy="5140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16"/>
              </a:lnSpc>
            </a:pPr>
            <a:r>
              <a:rPr lang="en-US" sz="3012" b="1" dirty="0" err="1">
                <a:solidFill>
                  <a:srgbClr val="FFFFFF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Imput</a:t>
            </a:r>
            <a:r>
              <a:rPr lang="en-US" sz="3012" b="1" dirty="0">
                <a:solidFill>
                  <a:srgbClr val="FFFFFF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 </a:t>
            </a:r>
            <a:r>
              <a:rPr lang="en-US" sz="3012" b="1" dirty="0" err="1">
                <a:solidFill>
                  <a:srgbClr val="FFFFFF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kontrol</a:t>
            </a:r>
            <a:endParaRPr lang="en-US" sz="3012" b="1" dirty="0">
              <a:solidFill>
                <a:srgbClr val="FFFFFF"/>
              </a:solidFill>
              <a:latin typeface="Libre Baskerville Bold"/>
              <a:ea typeface="Libre Baskerville Bold"/>
              <a:cs typeface="Libre Baskerville Bold"/>
              <a:sym typeface="Libre Baskerville Bold"/>
            </a:endParaRPr>
          </a:p>
        </p:txBody>
      </p:sp>
      <p:grpSp>
        <p:nvGrpSpPr>
          <p:cNvPr id="24" name="Group 24"/>
          <p:cNvGrpSpPr/>
          <p:nvPr/>
        </p:nvGrpSpPr>
        <p:grpSpPr>
          <a:xfrm>
            <a:off x="16035642" y="9258300"/>
            <a:ext cx="982727" cy="636341"/>
            <a:chOff x="0" y="0"/>
            <a:chExt cx="258825" cy="167596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58825" cy="167596"/>
            </a:xfrm>
            <a:custGeom>
              <a:avLst/>
              <a:gdLst/>
              <a:ahLst/>
              <a:cxnLst/>
              <a:rect l="l" t="t" r="r" b="b"/>
              <a:pathLst>
                <a:path w="258825" h="167596">
                  <a:moveTo>
                    <a:pt x="83798" y="0"/>
                  </a:moveTo>
                  <a:lnTo>
                    <a:pt x="175027" y="0"/>
                  </a:lnTo>
                  <a:cubicBezTo>
                    <a:pt x="221308" y="0"/>
                    <a:pt x="258825" y="37518"/>
                    <a:pt x="258825" y="83798"/>
                  </a:cubicBezTo>
                  <a:lnTo>
                    <a:pt x="258825" y="83798"/>
                  </a:lnTo>
                  <a:cubicBezTo>
                    <a:pt x="258825" y="130078"/>
                    <a:pt x="221308" y="167596"/>
                    <a:pt x="175027" y="167596"/>
                  </a:cubicBezTo>
                  <a:lnTo>
                    <a:pt x="83798" y="167596"/>
                  </a:lnTo>
                  <a:cubicBezTo>
                    <a:pt x="37518" y="167596"/>
                    <a:pt x="0" y="130078"/>
                    <a:pt x="0" y="83798"/>
                  </a:cubicBezTo>
                  <a:lnTo>
                    <a:pt x="0" y="83798"/>
                  </a:lnTo>
                  <a:cubicBezTo>
                    <a:pt x="0" y="37518"/>
                    <a:pt x="37518" y="0"/>
                    <a:pt x="83798" y="0"/>
                  </a:cubicBezTo>
                  <a:close/>
                </a:path>
              </a:pathLst>
            </a:custGeom>
            <a:solidFill>
              <a:srgbClr val="D2C1B6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258825" cy="2056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16181145" y="9248775"/>
            <a:ext cx="691721" cy="4844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28"/>
              </a:lnSpc>
            </a:pPr>
            <a:r>
              <a:rPr lang="en-US" sz="2877" b="1">
                <a:solidFill>
                  <a:srgbClr val="1B3C53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07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17067659" y="9415048"/>
            <a:ext cx="2388751" cy="318171"/>
            <a:chOff x="0" y="0"/>
            <a:chExt cx="629136" cy="83798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629136" cy="83798"/>
            </a:xfrm>
            <a:custGeom>
              <a:avLst/>
              <a:gdLst/>
              <a:ahLst/>
              <a:cxnLst/>
              <a:rect l="l" t="t" r="r" b="b"/>
              <a:pathLst>
                <a:path w="629136" h="83798">
                  <a:moveTo>
                    <a:pt x="41899" y="0"/>
                  </a:moveTo>
                  <a:lnTo>
                    <a:pt x="587237" y="0"/>
                  </a:lnTo>
                  <a:cubicBezTo>
                    <a:pt x="598349" y="0"/>
                    <a:pt x="609007" y="4414"/>
                    <a:pt x="616864" y="12272"/>
                  </a:cubicBezTo>
                  <a:cubicBezTo>
                    <a:pt x="624722" y="20130"/>
                    <a:pt x="629136" y="30787"/>
                    <a:pt x="629136" y="41899"/>
                  </a:cubicBezTo>
                  <a:lnTo>
                    <a:pt x="629136" y="41899"/>
                  </a:lnTo>
                  <a:cubicBezTo>
                    <a:pt x="629136" y="53011"/>
                    <a:pt x="624722" y="63668"/>
                    <a:pt x="616864" y="71526"/>
                  </a:cubicBezTo>
                  <a:cubicBezTo>
                    <a:pt x="609007" y="79384"/>
                    <a:pt x="598349" y="83798"/>
                    <a:pt x="587237" y="83798"/>
                  </a:cubicBezTo>
                  <a:lnTo>
                    <a:pt x="41899" y="83798"/>
                  </a:lnTo>
                  <a:cubicBezTo>
                    <a:pt x="30787" y="83798"/>
                    <a:pt x="20130" y="79384"/>
                    <a:pt x="12272" y="71526"/>
                  </a:cubicBezTo>
                  <a:cubicBezTo>
                    <a:pt x="4414" y="63668"/>
                    <a:pt x="0" y="53011"/>
                    <a:pt x="0" y="41899"/>
                  </a:cubicBezTo>
                  <a:lnTo>
                    <a:pt x="0" y="41899"/>
                  </a:lnTo>
                  <a:cubicBezTo>
                    <a:pt x="0" y="30787"/>
                    <a:pt x="4414" y="20130"/>
                    <a:pt x="12272" y="12272"/>
                  </a:cubicBezTo>
                  <a:cubicBezTo>
                    <a:pt x="20130" y="4414"/>
                    <a:pt x="30787" y="0"/>
                    <a:pt x="41899" y="0"/>
                  </a:cubicBezTo>
                  <a:close/>
                </a:path>
              </a:pathLst>
            </a:custGeom>
            <a:solidFill>
              <a:srgbClr val="D2C1B6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0" y="-38100"/>
              <a:ext cx="629136" cy="1218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98058" y="1028700"/>
            <a:ext cx="1965454" cy="835863"/>
            <a:chOff x="0" y="0"/>
            <a:chExt cx="517651" cy="22014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17651" cy="220145"/>
            </a:xfrm>
            <a:custGeom>
              <a:avLst/>
              <a:gdLst/>
              <a:ahLst/>
              <a:cxnLst/>
              <a:rect l="l" t="t" r="r" b="b"/>
              <a:pathLst>
                <a:path w="517651" h="220145">
                  <a:moveTo>
                    <a:pt x="0" y="0"/>
                  </a:moveTo>
                  <a:lnTo>
                    <a:pt x="517651" y="0"/>
                  </a:lnTo>
                  <a:lnTo>
                    <a:pt x="517651" y="220145"/>
                  </a:lnTo>
                  <a:lnTo>
                    <a:pt x="0" y="220145"/>
                  </a:lnTo>
                  <a:close/>
                </a:path>
              </a:pathLst>
            </a:custGeom>
            <a:solidFill>
              <a:srgbClr val="456882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17651" cy="2582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-10800000">
            <a:off x="-298058" y="9957995"/>
            <a:ext cx="19149961" cy="1013842"/>
            <a:chOff x="0" y="0"/>
            <a:chExt cx="5043611" cy="26702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043611" cy="267020"/>
            </a:xfrm>
            <a:custGeom>
              <a:avLst/>
              <a:gdLst/>
              <a:ahLst/>
              <a:cxnLst/>
              <a:rect l="l" t="t" r="r" b="b"/>
              <a:pathLst>
                <a:path w="5043611" h="267020">
                  <a:moveTo>
                    <a:pt x="0" y="0"/>
                  </a:moveTo>
                  <a:lnTo>
                    <a:pt x="5043611" y="0"/>
                  </a:lnTo>
                  <a:lnTo>
                    <a:pt x="5043611" y="267020"/>
                  </a:lnTo>
                  <a:lnTo>
                    <a:pt x="0" y="267020"/>
                  </a:lnTo>
                  <a:close/>
                </a:path>
              </a:pathLst>
            </a:custGeom>
            <a:solidFill>
              <a:srgbClr val="456882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5043611" cy="3051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-10800000">
            <a:off x="-576606" y="-602312"/>
            <a:ext cx="19149961" cy="1013842"/>
            <a:chOff x="0" y="0"/>
            <a:chExt cx="5043611" cy="26702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043611" cy="267020"/>
            </a:xfrm>
            <a:custGeom>
              <a:avLst/>
              <a:gdLst/>
              <a:ahLst/>
              <a:cxnLst/>
              <a:rect l="l" t="t" r="r" b="b"/>
              <a:pathLst>
                <a:path w="5043611" h="267020">
                  <a:moveTo>
                    <a:pt x="0" y="0"/>
                  </a:moveTo>
                  <a:lnTo>
                    <a:pt x="5043611" y="0"/>
                  </a:lnTo>
                  <a:lnTo>
                    <a:pt x="5043611" y="267020"/>
                  </a:lnTo>
                  <a:lnTo>
                    <a:pt x="0" y="267020"/>
                  </a:lnTo>
                  <a:close/>
                </a:path>
              </a:pathLst>
            </a:custGeom>
            <a:solidFill>
              <a:srgbClr val="D2C1B6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5043611" cy="3051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14667490" y="-670567"/>
            <a:ext cx="2760657" cy="4114800"/>
          </a:xfrm>
          <a:custGeom>
            <a:avLst/>
            <a:gdLst/>
            <a:ahLst/>
            <a:cxnLst/>
            <a:rect l="l" t="t" r="r" b="b"/>
            <a:pathLst>
              <a:path w="2760657" h="4114800">
                <a:moveTo>
                  <a:pt x="0" y="0"/>
                </a:moveTo>
                <a:lnTo>
                  <a:pt x="2760657" y="0"/>
                </a:lnTo>
                <a:lnTo>
                  <a:pt x="276065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-576606" y="8336262"/>
            <a:ext cx="4306351" cy="3468570"/>
          </a:xfrm>
          <a:custGeom>
            <a:avLst/>
            <a:gdLst/>
            <a:ahLst/>
            <a:cxnLst/>
            <a:rect l="l" t="t" r="r" b="b"/>
            <a:pathLst>
              <a:path w="4306351" h="3468570">
                <a:moveTo>
                  <a:pt x="0" y="0"/>
                </a:moveTo>
                <a:lnTo>
                  <a:pt x="4306350" y="0"/>
                </a:lnTo>
                <a:lnTo>
                  <a:pt x="4306350" y="3468569"/>
                </a:lnTo>
                <a:lnTo>
                  <a:pt x="0" y="34685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3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895518" y="563930"/>
            <a:ext cx="12543373" cy="14255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186"/>
              </a:lnSpc>
            </a:pPr>
            <a:r>
              <a:rPr lang="en-US" sz="8704" b="1" dirty="0" err="1">
                <a:solidFill>
                  <a:srgbClr val="1B3C53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Pertemuan</a:t>
            </a:r>
            <a:r>
              <a:rPr lang="en-US" sz="8704" b="1" dirty="0">
                <a:solidFill>
                  <a:srgbClr val="1B3C53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 4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223842" y="3267806"/>
            <a:ext cx="2076699" cy="8340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76"/>
              </a:lnSpc>
            </a:pPr>
            <a:r>
              <a:rPr lang="en-US" sz="2412" b="1">
                <a:solidFill>
                  <a:srgbClr val="FFFFFF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PROSES</a:t>
            </a:r>
          </a:p>
          <a:p>
            <a:pPr algn="ctr">
              <a:lnSpc>
                <a:spcPts val="3376"/>
              </a:lnSpc>
            </a:pPr>
            <a:r>
              <a:rPr lang="en-US" sz="2412" b="1">
                <a:solidFill>
                  <a:srgbClr val="FFFFFF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SATU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278611" y="3110635"/>
            <a:ext cx="2766831" cy="4078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76"/>
              </a:lnSpc>
            </a:pPr>
            <a:r>
              <a:rPr lang="en-US" sz="2412" b="1" dirty="0">
                <a:solidFill>
                  <a:srgbClr val="1B3C53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Alaram manager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696207" y="7446206"/>
            <a:ext cx="2076699" cy="8340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76"/>
              </a:lnSpc>
            </a:pPr>
            <a:r>
              <a:rPr lang="en-US" sz="2412" b="1">
                <a:solidFill>
                  <a:srgbClr val="FFFFFF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PROSES</a:t>
            </a:r>
          </a:p>
          <a:p>
            <a:pPr algn="ctr">
              <a:lnSpc>
                <a:spcPts val="3376"/>
              </a:lnSpc>
            </a:pPr>
            <a:r>
              <a:rPr lang="en-US" sz="2412" b="1">
                <a:solidFill>
                  <a:srgbClr val="FFFFFF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EMPAT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909641" y="3599468"/>
            <a:ext cx="6781800" cy="51712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376"/>
              </a:lnSpc>
            </a:pPr>
            <a:r>
              <a:rPr lang="en-US" dirty="0" err="1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AlarmManager</a:t>
            </a:r>
            <a:r>
              <a:rPr lang="en-US" dirty="0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</a:t>
            </a:r>
            <a:r>
              <a:rPr lang="en-US" dirty="0" err="1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merupakan</a:t>
            </a:r>
            <a:r>
              <a:rPr lang="en-US" dirty="0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</a:t>
            </a:r>
            <a:r>
              <a:rPr lang="en-US" dirty="0" err="1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kelas</a:t>
            </a:r>
            <a:r>
              <a:rPr lang="en-US" dirty="0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yang </a:t>
            </a:r>
            <a:r>
              <a:rPr lang="en-US" dirty="0" err="1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menyediakan</a:t>
            </a:r>
            <a:r>
              <a:rPr lang="en-US" dirty="0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</a:t>
            </a:r>
            <a:r>
              <a:rPr lang="en-US" dirty="0" err="1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akses</a:t>
            </a:r>
            <a:r>
              <a:rPr lang="en-US" dirty="0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</a:t>
            </a:r>
            <a:r>
              <a:rPr lang="en-US" dirty="0" err="1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ke</a:t>
            </a:r>
            <a:r>
              <a:rPr lang="en-US" dirty="0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</a:t>
            </a:r>
            <a:r>
              <a:rPr lang="en-US" dirty="0" err="1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layanan</a:t>
            </a:r>
            <a:r>
              <a:rPr lang="en-US" dirty="0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</a:t>
            </a:r>
          </a:p>
          <a:p>
            <a:pPr algn="just">
              <a:lnSpc>
                <a:spcPts val="3376"/>
              </a:lnSpc>
            </a:pPr>
            <a:r>
              <a:rPr lang="en-US" dirty="0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alarm </a:t>
            </a:r>
            <a:r>
              <a:rPr lang="en-US" dirty="0" err="1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sistem</a:t>
            </a:r>
            <a:r>
              <a:rPr lang="en-US" dirty="0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dan </a:t>
            </a:r>
            <a:r>
              <a:rPr lang="en-US" dirty="0" err="1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hanya</a:t>
            </a:r>
            <a:r>
              <a:rPr lang="en-US" dirty="0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</a:t>
            </a:r>
            <a:r>
              <a:rPr lang="en-US" dirty="0" err="1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menjadwalkan</a:t>
            </a:r>
            <a:r>
              <a:rPr lang="en-US" dirty="0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</a:t>
            </a:r>
            <a:r>
              <a:rPr lang="en-US" dirty="0" err="1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tugas</a:t>
            </a:r>
            <a:r>
              <a:rPr lang="en-US" dirty="0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di </a:t>
            </a:r>
            <a:r>
              <a:rPr lang="en-US" dirty="0" err="1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tingkat</a:t>
            </a:r>
            <a:r>
              <a:rPr lang="en-US" dirty="0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</a:t>
            </a:r>
            <a:r>
              <a:rPr lang="en-US" dirty="0" err="1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sistem</a:t>
            </a:r>
            <a:r>
              <a:rPr lang="en-US" dirty="0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. </a:t>
            </a:r>
          </a:p>
          <a:p>
            <a:pPr algn="just">
              <a:lnSpc>
                <a:spcPts val="3376"/>
              </a:lnSpc>
            </a:pPr>
            <a:r>
              <a:rPr lang="en-US" dirty="0" err="1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Pengembang</a:t>
            </a:r>
            <a:r>
              <a:rPr lang="en-US" dirty="0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</a:t>
            </a:r>
            <a:r>
              <a:rPr lang="en-US" dirty="0" err="1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dapat</a:t>
            </a:r>
            <a:r>
              <a:rPr lang="en-US" dirty="0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</a:t>
            </a:r>
            <a:r>
              <a:rPr lang="en-US" dirty="0" err="1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melakukan</a:t>
            </a:r>
            <a:r>
              <a:rPr lang="en-US" dirty="0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</a:t>
            </a:r>
            <a:r>
              <a:rPr lang="en-US" dirty="0" err="1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penjadwalan</a:t>
            </a:r>
            <a:r>
              <a:rPr lang="en-US" dirty="0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pada </a:t>
            </a:r>
            <a:r>
              <a:rPr lang="en-US" dirty="0" err="1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aplikasi</a:t>
            </a:r>
            <a:r>
              <a:rPr lang="en-US" dirty="0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</a:t>
            </a:r>
            <a:r>
              <a:rPr lang="en-US" dirty="0" err="1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untuk</a:t>
            </a:r>
            <a:r>
              <a:rPr lang="en-US" dirty="0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</a:t>
            </a:r>
          </a:p>
          <a:p>
            <a:pPr algn="just">
              <a:lnSpc>
                <a:spcPts val="3376"/>
              </a:lnSpc>
            </a:pPr>
            <a:r>
              <a:rPr lang="en-US" dirty="0" err="1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menjalankan</a:t>
            </a:r>
            <a:r>
              <a:rPr lang="en-US" dirty="0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</a:t>
            </a:r>
            <a:r>
              <a:rPr lang="en-US" dirty="0" err="1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beberapa</a:t>
            </a:r>
            <a:r>
              <a:rPr lang="en-US" dirty="0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</a:t>
            </a:r>
            <a:r>
              <a:rPr lang="en-US" dirty="0" err="1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perintah</a:t>
            </a:r>
            <a:r>
              <a:rPr lang="en-US" dirty="0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. Sama </a:t>
            </a:r>
            <a:r>
              <a:rPr lang="en-US" dirty="0" err="1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halnya</a:t>
            </a:r>
            <a:r>
              <a:rPr lang="en-US" dirty="0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</a:t>
            </a:r>
            <a:r>
              <a:rPr lang="en-US" dirty="0" err="1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saat</a:t>
            </a:r>
            <a:r>
              <a:rPr lang="en-US" dirty="0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</a:t>
            </a:r>
            <a:r>
              <a:rPr lang="en-US" dirty="0" err="1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kita</a:t>
            </a:r>
            <a:r>
              <a:rPr lang="en-US" dirty="0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</a:t>
            </a:r>
            <a:r>
              <a:rPr lang="en-US" dirty="0" err="1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mengatur</a:t>
            </a:r>
            <a:r>
              <a:rPr lang="en-US" dirty="0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alarm </a:t>
            </a:r>
          </a:p>
          <a:p>
            <a:pPr algn="just">
              <a:lnSpc>
                <a:spcPts val="3376"/>
              </a:lnSpc>
            </a:pPr>
            <a:r>
              <a:rPr lang="en-US" dirty="0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pada jam agar </a:t>
            </a:r>
            <a:r>
              <a:rPr lang="en-US" dirty="0" err="1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berbunyi</a:t>
            </a:r>
            <a:r>
              <a:rPr lang="en-US" dirty="0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pada </a:t>
            </a:r>
            <a:r>
              <a:rPr lang="en-US" dirty="0" err="1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waktu</a:t>
            </a:r>
            <a:r>
              <a:rPr lang="en-US" dirty="0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</a:t>
            </a:r>
            <a:r>
              <a:rPr lang="en-US" dirty="0" err="1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tertentu</a:t>
            </a:r>
            <a:r>
              <a:rPr lang="en-US" dirty="0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, pada </a:t>
            </a:r>
            <a:r>
              <a:rPr lang="en-US" dirty="0" err="1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sistem</a:t>
            </a:r>
            <a:r>
              <a:rPr lang="en-US" dirty="0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</a:t>
            </a:r>
            <a:r>
              <a:rPr lang="en-US" dirty="0" err="1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ini</a:t>
            </a:r>
            <a:r>
              <a:rPr lang="en-US" dirty="0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</a:t>
            </a:r>
            <a:r>
              <a:rPr lang="en-US" dirty="0" err="1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kita</a:t>
            </a:r>
            <a:r>
              <a:rPr lang="en-US" dirty="0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</a:t>
            </a:r>
          </a:p>
          <a:p>
            <a:pPr algn="just">
              <a:lnSpc>
                <a:spcPts val="3376"/>
              </a:lnSpc>
            </a:pPr>
            <a:r>
              <a:rPr lang="en-US" dirty="0" err="1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mengatur</a:t>
            </a:r>
            <a:r>
              <a:rPr lang="en-US" dirty="0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</a:t>
            </a:r>
            <a:r>
              <a:rPr lang="en-US" dirty="0" err="1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tugas</a:t>
            </a:r>
            <a:r>
              <a:rPr lang="en-US" dirty="0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pada </a:t>
            </a:r>
            <a:r>
              <a:rPr lang="en-US" dirty="0" err="1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aplikasi</a:t>
            </a:r>
            <a:r>
              <a:rPr lang="en-US" dirty="0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pada </a:t>
            </a:r>
            <a:r>
              <a:rPr lang="en-US" dirty="0" err="1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waktu</a:t>
            </a:r>
            <a:r>
              <a:rPr lang="en-US" dirty="0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yang </a:t>
            </a:r>
            <a:r>
              <a:rPr lang="en-US" dirty="0" err="1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telah</a:t>
            </a:r>
            <a:r>
              <a:rPr lang="en-US" dirty="0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</a:t>
            </a:r>
            <a:r>
              <a:rPr lang="en-US" dirty="0" err="1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ditentukan</a:t>
            </a:r>
            <a:r>
              <a:rPr lang="en-US" dirty="0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. </a:t>
            </a:r>
          </a:p>
          <a:p>
            <a:pPr algn="just">
              <a:lnSpc>
                <a:spcPts val="3376"/>
              </a:lnSpc>
            </a:pPr>
            <a:r>
              <a:rPr lang="en-US" dirty="0" err="1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AlarmManager</a:t>
            </a:r>
            <a:r>
              <a:rPr lang="en-US" dirty="0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</a:t>
            </a:r>
            <a:r>
              <a:rPr lang="en-US" dirty="0" err="1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dapat</a:t>
            </a:r>
            <a:r>
              <a:rPr lang="en-US" dirty="0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</a:t>
            </a:r>
            <a:r>
              <a:rPr lang="en-US" dirty="0" err="1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bekerja</a:t>
            </a:r>
            <a:r>
              <a:rPr lang="en-US" dirty="0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</a:t>
            </a:r>
            <a:r>
              <a:rPr lang="en-US" dirty="0" err="1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saat</a:t>
            </a:r>
            <a:r>
              <a:rPr lang="en-US" dirty="0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</a:t>
            </a:r>
            <a:r>
              <a:rPr lang="en-US" dirty="0" err="1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perangkat</a:t>
            </a:r>
            <a:r>
              <a:rPr lang="en-US" dirty="0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</a:t>
            </a:r>
            <a:r>
              <a:rPr lang="en-US" dirty="0" err="1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dalam</a:t>
            </a:r>
            <a:r>
              <a:rPr lang="en-US" dirty="0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mode </a:t>
            </a:r>
            <a:r>
              <a:rPr lang="en-US" dirty="0" err="1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tidur</a:t>
            </a:r>
            <a:r>
              <a:rPr lang="en-US" dirty="0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dan </a:t>
            </a:r>
          </a:p>
          <a:p>
            <a:pPr algn="just">
              <a:lnSpc>
                <a:spcPts val="3376"/>
              </a:lnSpc>
            </a:pPr>
            <a:r>
              <a:rPr lang="en-US" dirty="0" err="1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membangunkan</a:t>
            </a:r>
            <a:r>
              <a:rPr lang="en-US" dirty="0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</a:t>
            </a:r>
            <a:r>
              <a:rPr lang="en-US" dirty="0" err="1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atau</a:t>
            </a:r>
            <a:r>
              <a:rPr lang="en-US" dirty="0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</a:t>
            </a:r>
            <a:r>
              <a:rPr lang="en-US" dirty="0" err="1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menyalakan</a:t>
            </a:r>
            <a:r>
              <a:rPr lang="en-US" dirty="0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</a:t>
            </a:r>
            <a:r>
              <a:rPr lang="en-US" dirty="0" err="1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perangkat</a:t>
            </a:r>
            <a:r>
              <a:rPr lang="en-US" dirty="0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</a:t>
            </a:r>
            <a:r>
              <a:rPr lang="en-US" dirty="0" err="1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sesuai</a:t>
            </a:r>
            <a:r>
              <a:rPr lang="en-US" dirty="0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</a:t>
            </a:r>
            <a:r>
              <a:rPr lang="en-US" dirty="0" err="1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waktu</a:t>
            </a:r>
            <a:r>
              <a:rPr lang="en-US" dirty="0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yang </a:t>
            </a:r>
            <a:r>
              <a:rPr lang="en-US" dirty="0" err="1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telah</a:t>
            </a:r>
            <a:r>
              <a:rPr lang="en-US" dirty="0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</a:t>
            </a:r>
          </a:p>
          <a:p>
            <a:pPr algn="just">
              <a:lnSpc>
                <a:spcPts val="3376"/>
              </a:lnSpc>
            </a:pPr>
            <a:r>
              <a:rPr lang="en-US" dirty="0" err="1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ditentukan</a:t>
            </a:r>
            <a:r>
              <a:rPr lang="en-US" dirty="0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. </a:t>
            </a:r>
            <a:r>
              <a:rPr lang="en-US" dirty="0" err="1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AlarmManager</a:t>
            </a:r>
            <a:r>
              <a:rPr lang="en-US" dirty="0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</a:t>
            </a:r>
            <a:r>
              <a:rPr lang="en-US" dirty="0" err="1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akan</a:t>
            </a:r>
            <a:r>
              <a:rPr lang="en-US" dirty="0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</a:t>
            </a:r>
            <a:r>
              <a:rPr lang="en-US" dirty="0" err="1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melakukan</a:t>
            </a:r>
            <a:r>
              <a:rPr lang="en-US" dirty="0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</a:t>
            </a:r>
            <a:r>
              <a:rPr lang="en-US" dirty="0" err="1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tugas</a:t>
            </a:r>
            <a:r>
              <a:rPr lang="en-US" dirty="0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</a:t>
            </a:r>
            <a:r>
              <a:rPr lang="en-US" dirty="0" err="1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hanya</a:t>
            </a:r>
            <a:r>
              <a:rPr lang="en-US" dirty="0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</a:t>
            </a:r>
            <a:r>
              <a:rPr lang="en-US" dirty="0" err="1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berdasarkan</a:t>
            </a:r>
            <a:r>
              <a:rPr lang="en-US" dirty="0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</a:t>
            </a:r>
          </a:p>
          <a:p>
            <a:pPr algn="just">
              <a:lnSpc>
                <a:spcPts val="3376"/>
              </a:lnSpc>
            </a:pPr>
            <a:r>
              <a:rPr lang="en-US" dirty="0" err="1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waktu</a:t>
            </a:r>
            <a:r>
              <a:rPr lang="en-US" dirty="0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yang </a:t>
            </a:r>
            <a:r>
              <a:rPr lang="en-US" dirty="0" err="1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pasti</a:t>
            </a:r>
            <a:r>
              <a:rPr lang="en-US" dirty="0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</a:t>
            </a:r>
            <a:r>
              <a:rPr lang="en-US" dirty="0" err="1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atau</a:t>
            </a:r>
            <a:r>
              <a:rPr lang="en-US" dirty="0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</a:t>
            </a:r>
            <a:r>
              <a:rPr lang="en-US" dirty="0" err="1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waktu</a:t>
            </a:r>
            <a:r>
              <a:rPr lang="en-US" dirty="0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yang </a:t>
            </a:r>
            <a:r>
              <a:rPr lang="en-US" dirty="0" err="1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telah</a:t>
            </a:r>
            <a:r>
              <a:rPr lang="en-US" dirty="0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</a:t>
            </a:r>
            <a:r>
              <a:rPr lang="en-US" dirty="0" err="1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ditentukan</a:t>
            </a:r>
            <a:r>
              <a:rPr lang="en-US" dirty="0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</a:t>
            </a:r>
            <a:r>
              <a:rPr lang="en-US" dirty="0" err="1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secara</a:t>
            </a:r>
            <a:r>
              <a:rPr lang="en-US" dirty="0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</a:t>
            </a:r>
            <a:r>
              <a:rPr lang="en-US" dirty="0" err="1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nyata</a:t>
            </a:r>
            <a:r>
              <a:rPr lang="en-US" dirty="0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. </a:t>
            </a:r>
          </a:p>
          <a:p>
            <a:pPr algn="just">
              <a:lnSpc>
                <a:spcPts val="3376"/>
              </a:lnSpc>
            </a:pPr>
            <a:r>
              <a:rPr lang="en-US" dirty="0" err="1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Namun</a:t>
            </a:r>
            <a:r>
              <a:rPr lang="en-US" dirty="0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</a:t>
            </a:r>
            <a:r>
              <a:rPr lang="en-US" dirty="0" err="1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AlarmManager</a:t>
            </a:r>
            <a:r>
              <a:rPr lang="en-US" dirty="0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yang </a:t>
            </a:r>
            <a:r>
              <a:rPr lang="en-US" dirty="0" err="1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telah</a:t>
            </a:r>
            <a:r>
              <a:rPr lang="en-US" dirty="0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</a:t>
            </a:r>
            <a:r>
              <a:rPr lang="en-US" dirty="0" err="1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diatur</a:t>
            </a:r>
            <a:r>
              <a:rPr lang="en-US" dirty="0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</a:t>
            </a:r>
            <a:r>
              <a:rPr lang="en-US" dirty="0" err="1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akan</a:t>
            </a:r>
            <a:r>
              <a:rPr lang="en-US" dirty="0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</a:t>
            </a:r>
            <a:r>
              <a:rPr lang="en-US" dirty="0" err="1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hilang</a:t>
            </a:r>
            <a:r>
              <a:rPr lang="en-US" dirty="0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</a:t>
            </a:r>
            <a:r>
              <a:rPr lang="en-US" dirty="0" err="1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atau</a:t>
            </a:r>
            <a:r>
              <a:rPr lang="en-US" dirty="0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</a:t>
            </a:r>
            <a:r>
              <a:rPr lang="en-US" dirty="0" err="1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terhapus</a:t>
            </a:r>
            <a:r>
              <a:rPr lang="en-US" dirty="0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</a:t>
            </a:r>
            <a:r>
              <a:rPr lang="en-US" dirty="0" err="1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saat</a:t>
            </a:r>
            <a:r>
              <a:rPr lang="en-US" dirty="0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</a:t>
            </a:r>
          </a:p>
          <a:p>
            <a:pPr algn="just">
              <a:lnSpc>
                <a:spcPts val="3376"/>
              </a:lnSpc>
            </a:pPr>
            <a:r>
              <a:rPr lang="en-US" dirty="0" err="1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perangkat</a:t>
            </a:r>
            <a:r>
              <a:rPr lang="en-US" dirty="0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</a:t>
            </a:r>
            <a:r>
              <a:rPr lang="en-US" dirty="0" err="1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dinyalakan</a:t>
            </a:r>
            <a:r>
              <a:rPr lang="en-US" dirty="0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</a:t>
            </a:r>
            <a:r>
              <a:rPr lang="en-US" dirty="0" err="1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ulang</a:t>
            </a:r>
            <a:r>
              <a:rPr lang="en-US" dirty="0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</a:t>
            </a:r>
            <a:r>
              <a:rPr lang="en-US" dirty="0" err="1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atau</a:t>
            </a:r>
            <a:r>
              <a:rPr lang="en-US" dirty="0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restart </a:t>
            </a:r>
            <a:r>
              <a:rPr lang="en-US" dirty="0" err="1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atau</a:t>
            </a:r>
            <a:r>
              <a:rPr lang="en-US" dirty="0">
                <a:solidFill>
                  <a:srgbClr val="7B4C26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reboot.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16035642" y="9258300"/>
            <a:ext cx="982727" cy="636341"/>
            <a:chOff x="0" y="0"/>
            <a:chExt cx="258825" cy="167596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58825" cy="167596"/>
            </a:xfrm>
            <a:custGeom>
              <a:avLst/>
              <a:gdLst/>
              <a:ahLst/>
              <a:cxnLst/>
              <a:rect l="l" t="t" r="r" b="b"/>
              <a:pathLst>
                <a:path w="258825" h="167596">
                  <a:moveTo>
                    <a:pt x="83798" y="0"/>
                  </a:moveTo>
                  <a:lnTo>
                    <a:pt x="175027" y="0"/>
                  </a:lnTo>
                  <a:cubicBezTo>
                    <a:pt x="221308" y="0"/>
                    <a:pt x="258825" y="37518"/>
                    <a:pt x="258825" y="83798"/>
                  </a:cubicBezTo>
                  <a:lnTo>
                    <a:pt x="258825" y="83798"/>
                  </a:lnTo>
                  <a:cubicBezTo>
                    <a:pt x="258825" y="130078"/>
                    <a:pt x="221308" y="167596"/>
                    <a:pt x="175027" y="167596"/>
                  </a:cubicBezTo>
                  <a:lnTo>
                    <a:pt x="83798" y="167596"/>
                  </a:lnTo>
                  <a:cubicBezTo>
                    <a:pt x="37518" y="167596"/>
                    <a:pt x="0" y="130078"/>
                    <a:pt x="0" y="83798"/>
                  </a:cubicBezTo>
                  <a:lnTo>
                    <a:pt x="0" y="83798"/>
                  </a:lnTo>
                  <a:cubicBezTo>
                    <a:pt x="0" y="37518"/>
                    <a:pt x="37518" y="0"/>
                    <a:pt x="83798" y="0"/>
                  </a:cubicBezTo>
                  <a:close/>
                </a:path>
              </a:pathLst>
            </a:custGeom>
            <a:solidFill>
              <a:srgbClr val="D2C1B6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258825" cy="2056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16181145" y="9248775"/>
            <a:ext cx="691721" cy="4844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28"/>
              </a:lnSpc>
            </a:pPr>
            <a:r>
              <a:rPr lang="en-US" sz="2877" b="1">
                <a:solidFill>
                  <a:srgbClr val="1B3C53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08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17067659" y="9415048"/>
            <a:ext cx="2388751" cy="318171"/>
            <a:chOff x="0" y="0"/>
            <a:chExt cx="629136" cy="83798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629136" cy="83798"/>
            </a:xfrm>
            <a:custGeom>
              <a:avLst/>
              <a:gdLst/>
              <a:ahLst/>
              <a:cxnLst/>
              <a:rect l="l" t="t" r="r" b="b"/>
              <a:pathLst>
                <a:path w="629136" h="83798">
                  <a:moveTo>
                    <a:pt x="41899" y="0"/>
                  </a:moveTo>
                  <a:lnTo>
                    <a:pt x="587237" y="0"/>
                  </a:lnTo>
                  <a:cubicBezTo>
                    <a:pt x="598349" y="0"/>
                    <a:pt x="609007" y="4414"/>
                    <a:pt x="616864" y="12272"/>
                  </a:cubicBezTo>
                  <a:cubicBezTo>
                    <a:pt x="624722" y="20130"/>
                    <a:pt x="629136" y="30787"/>
                    <a:pt x="629136" y="41899"/>
                  </a:cubicBezTo>
                  <a:lnTo>
                    <a:pt x="629136" y="41899"/>
                  </a:lnTo>
                  <a:cubicBezTo>
                    <a:pt x="629136" y="53011"/>
                    <a:pt x="624722" y="63668"/>
                    <a:pt x="616864" y="71526"/>
                  </a:cubicBezTo>
                  <a:cubicBezTo>
                    <a:pt x="609007" y="79384"/>
                    <a:pt x="598349" y="83798"/>
                    <a:pt x="587237" y="83798"/>
                  </a:cubicBezTo>
                  <a:lnTo>
                    <a:pt x="41899" y="83798"/>
                  </a:lnTo>
                  <a:cubicBezTo>
                    <a:pt x="30787" y="83798"/>
                    <a:pt x="20130" y="79384"/>
                    <a:pt x="12272" y="71526"/>
                  </a:cubicBezTo>
                  <a:cubicBezTo>
                    <a:pt x="4414" y="63668"/>
                    <a:pt x="0" y="53011"/>
                    <a:pt x="0" y="41899"/>
                  </a:cubicBezTo>
                  <a:lnTo>
                    <a:pt x="0" y="41899"/>
                  </a:lnTo>
                  <a:cubicBezTo>
                    <a:pt x="0" y="30787"/>
                    <a:pt x="4414" y="20130"/>
                    <a:pt x="12272" y="12272"/>
                  </a:cubicBezTo>
                  <a:cubicBezTo>
                    <a:pt x="20130" y="4414"/>
                    <a:pt x="30787" y="0"/>
                    <a:pt x="41899" y="0"/>
                  </a:cubicBezTo>
                  <a:close/>
                </a:path>
              </a:pathLst>
            </a:custGeom>
            <a:solidFill>
              <a:srgbClr val="D2C1B6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0" y="-38100"/>
              <a:ext cx="629136" cy="1218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0" name="TextBox 17">
            <a:extLst>
              <a:ext uri="{FF2B5EF4-FFF2-40B4-BE49-F238E27FC236}">
                <a16:creationId xmlns:a16="http://schemas.microsoft.com/office/drawing/2014/main" id="{3661F484-DD2E-13D2-1774-18C2EAE6CEC7}"/>
              </a:ext>
            </a:extLst>
          </p:cNvPr>
          <p:cNvSpPr txBox="1"/>
          <p:nvPr/>
        </p:nvSpPr>
        <p:spPr>
          <a:xfrm>
            <a:off x="1860026" y="1899404"/>
            <a:ext cx="3028190" cy="4078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76"/>
              </a:lnSpc>
            </a:pPr>
            <a:r>
              <a:rPr lang="en-US" sz="2412" b="1" dirty="0">
                <a:solidFill>
                  <a:srgbClr val="1B3C53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Background task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553179" y="98531"/>
            <a:ext cx="13538179" cy="2749575"/>
            <a:chOff x="0" y="0"/>
            <a:chExt cx="3565611" cy="72416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565611" cy="724168"/>
            </a:xfrm>
            <a:custGeom>
              <a:avLst/>
              <a:gdLst/>
              <a:ahLst/>
              <a:cxnLst/>
              <a:rect l="l" t="t" r="r" b="b"/>
              <a:pathLst>
                <a:path w="3565611" h="724168">
                  <a:moveTo>
                    <a:pt x="0" y="0"/>
                  </a:moveTo>
                  <a:lnTo>
                    <a:pt x="3565611" y="0"/>
                  </a:lnTo>
                  <a:lnTo>
                    <a:pt x="3565611" y="724168"/>
                  </a:lnTo>
                  <a:lnTo>
                    <a:pt x="0" y="724168"/>
                  </a:lnTo>
                  <a:close/>
                </a:path>
              </a:pathLst>
            </a:custGeom>
            <a:solidFill>
              <a:srgbClr val="456882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3565611" cy="7622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3915941" y="5040630"/>
            <a:ext cx="4372059" cy="5246370"/>
            <a:chOff x="0" y="0"/>
            <a:chExt cx="11062970" cy="1327531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1062970" cy="13275311"/>
            </a:xfrm>
            <a:custGeom>
              <a:avLst/>
              <a:gdLst/>
              <a:ahLst/>
              <a:cxnLst/>
              <a:rect l="l" t="t" r="r" b="b"/>
              <a:pathLst>
                <a:path w="11062970" h="13275311">
                  <a:moveTo>
                    <a:pt x="6649720" y="0"/>
                  </a:moveTo>
                  <a:lnTo>
                    <a:pt x="11062970" y="0"/>
                  </a:lnTo>
                  <a:lnTo>
                    <a:pt x="11062970" y="13275311"/>
                  </a:lnTo>
                  <a:lnTo>
                    <a:pt x="0" y="13275311"/>
                  </a:lnTo>
                  <a:lnTo>
                    <a:pt x="0" y="6649720"/>
                  </a:lnTo>
                  <a:cubicBezTo>
                    <a:pt x="0" y="2976880"/>
                    <a:pt x="2976880" y="0"/>
                    <a:pt x="6649720" y="0"/>
                  </a:cubicBezTo>
                  <a:close/>
                </a:path>
              </a:pathLst>
            </a:custGeom>
            <a:blipFill>
              <a:blip r:embed="rId2"/>
              <a:stretch>
                <a:fillRect l="-39916" r="-39916"/>
              </a:stretch>
            </a:blipFill>
          </p:spPr>
        </p:sp>
      </p:grpSp>
      <p:sp>
        <p:nvSpPr>
          <p:cNvPr id="7" name="Freeform 7"/>
          <p:cNvSpPr/>
          <p:nvPr/>
        </p:nvSpPr>
        <p:spPr>
          <a:xfrm>
            <a:off x="14602085" y="-624887"/>
            <a:ext cx="3989376" cy="3989376"/>
          </a:xfrm>
          <a:custGeom>
            <a:avLst/>
            <a:gdLst/>
            <a:ahLst/>
            <a:cxnLst/>
            <a:rect l="l" t="t" r="r" b="b"/>
            <a:pathLst>
              <a:path w="3989376" h="3989376">
                <a:moveTo>
                  <a:pt x="0" y="0"/>
                </a:moveTo>
                <a:lnTo>
                  <a:pt x="3989376" y="0"/>
                </a:lnTo>
                <a:lnTo>
                  <a:pt x="3989376" y="3989377"/>
                </a:lnTo>
                <a:lnTo>
                  <a:pt x="0" y="39893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838200" y="1409271"/>
            <a:ext cx="11939735" cy="918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095"/>
              </a:lnSpc>
            </a:pPr>
            <a:r>
              <a:rPr lang="en-US" sz="4000" b="1" dirty="0" err="1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Karakteristik</a:t>
            </a:r>
            <a:r>
              <a:rPr lang="en-US" sz="4000" b="1" dirty="0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 alarm manager </a:t>
            </a:r>
            <a:r>
              <a:rPr lang="en-US" sz="4000" b="1" dirty="0" err="1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antara</a:t>
            </a:r>
            <a:r>
              <a:rPr lang="en-US" sz="4000" b="1" dirty="0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 lain: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3189360"/>
            <a:ext cx="11315700" cy="38959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376"/>
              </a:lnSpc>
            </a:pPr>
            <a:r>
              <a:rPr lang="sv-SE" sz="2412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1. Alarm manager dapat menjalankan obyek Intent berdasarkan</a:t>
            </a:r>
            <a:endParaRPr lang="en-US" sz="2412" dirty="0">
              <a:solidFill>
                <a:srgbClr val="7B4C26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algn="just">
              <a:lnSpc>
                <a:spcPts val="3376"/>
              </a:lnSpc>
            </a:pPr>
            <a:r>
              <a:rPr lang="en-US" sz="2412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waktu</a:t>
            </a:r>
            <a:r>
              <a:rPr lang="en-US" sz="2412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dan interval yang </a:t>
            </a:r>
            <a:r>
              <a:rPr lang="en-US" sz="2412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telah</a:t>
            </a:r>
            <a:r>
              <a:rPr lang="en-US" sz="2412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lang="en-US" sz="2412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ditentukan</a:t>
            </a:r>
            <a:r>
              <a:rPr lang="en-US" sz="2412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lang="en-US" sz="2412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sebelumnya</a:t>
            </a:r>
            <a:r>
              <a:rPr lang="en-US" sz="2412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,</a:t>
            </a:r>
          </a:p>
          <a:p>
            <a:pPr algn="just">
              <a:lnSpc>
                <a:spcPts val="3376"/>
              </a:lnSpc>
            </a:pPr>
            <a:endParaRPr lang="en-US" sz="2412" dirty="0">
              <a:solidFill>
                <a:srgbClr val="7B4C26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algn="just">
              <a:lnSpc>
                <a:spcPts val="3376"/>
              </a:lnSpc>
            </a:pPr>
            <a:r>
              <a:rPr lang="en-US" sz="2412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2. Alarm manager </a:t>
            </a:r>
            <a:r>
              <a:rPr lang="en-US" sz="2412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dapat</a:t>
            </a:r>
            <a:r>
              <a:rPr lang="en-US" sz="2412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lang="en-US" sz="2412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bekerja</a:t>
            </a:r>
            <a:r>
              <a:rPr lang="en-US" sz="2412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Bersama broadcast receiver </a:t>
            </a:r>
            <a:r>
              <a:rPr lang="en-US" sz="2412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untuk</a:t>
            </a:r>
            <a:r>
              <a:rPr lang="en-US" sz="2412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</a:p>
          <a:p>
            <a:pPr algn="just">
              <a:lnSpc>
                <a:spcPts val="3376"/>
              </a:lnSpc>
            </a:pPr>
            <a:r>
              <a:rPr lang="en-US" sz="2412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menjalankan</a:t>
            </a:r>
            <a:r>
              <a:rPr lang="en-US" sz="2412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lang="en-US" sz="2412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komponen</a:t>
            </a:r>
            <a:r>
              <a:rPr lang="en-US" sz="2412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lain.</a:t>
            </a:r>
          </a:p>
          <a:p>
            <a:pPr algn="just">
              <a:lnSpc>
                <a:spcPts val="3376"/>
              </a:lnSpc>
            </a:pPr>
            <a:endParaRPr lang="en-US" sz="2412" dirty="0">
              <a:solidFill>
                <a:srgbClr val="7B4C26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algn="just">
              <a:lnSpc>
                <a:spcPts val="3376"/>
              </a:lnSpc>
            </a:pPr>
            <a:r>
              <a:rPr lang="en-US" sz="2412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3. Alarm manager </a:t>
            </a:r>
            <a:r>
              <a:rPr lang="en-US" sz="2412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dapat</a:t>
            </a:r>
            <a:r>
              <a:rPr lang="en-US" sz="2412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lang="en-US" sz="2412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berjalan</a:t>
            </a:r>
            <a:r>
              <a:rPr lang="en-US" sz="2412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di </a:t>
            </a:r>
            <a:r>
              <a:rPr lang="en-US" sz="2412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luar</a:t>
            </a:r>
            <a:r>
              <a:rPr lang="en-US" sz="2412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life cycle </a:t>
            </a:r>
            <a:r>
              <a:rPr lang="en-US" sz="2412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aplikasi</a:t>
            </a:r>
            <a:r>
              <a:rPr lang="en-US" sz="2412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parent</a:t>
            </a:r>
          </a:p>
          <a:p>
            <a:pPr algn="just">
              <a:lnSpc>
                <a:spcPts val="3376"/>
              </a:lnSpc>
            </a:pPr>
            <a:r>
              <a:rPr lang="en-US" sz="2412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sehingga</a:t>
            </a:r>
            <a:r>
              <a:rPr lang="en-US" sz="2412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alarm </a:t>
            </a:r>
            <a:r>
              <a:rPr lang="en-US" sz="2412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dapat</a:t>
            </a:r>
            <a:r>
              <a:rPr lang="en-US" sz="2412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lang="en-US" sz="2412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melakukan</a:t>
            </a:r>
            <a:r>
              <a:rPr lang="en-US" sz="2412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lang="en-US" sz="2412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aksi</a:t>
            </a:r>
            <a:r>
              <a:rPr lang="en-US" sz="2412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lang="en-US" sz="2412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saat</a:t>
            </a:r>
            <a:r>
              <a:rPr lang="en-US" sz="2412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lang="en-US" sz="2412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aplikasi</a:t>
            </a:r>
            <a:r>
              <a:rPr lang="en-US" sz="2412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lang="en-US" sz="2412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sedang</a:t>
            </a:r>
            <a:r>
              <a:rPr lang="en-US" sz="2412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lang="en-US" sz="2412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tidak</a:t>
            </a:r>
            <a:r>
              <a:rPr lang="en-US" sz="2412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</a:p>
          <a:p>
            <a:pPr algn="just">
              <a:lnSpc>
                <a:spcPts val="3376"/>
              </a:lnSpc>
            </a:pPr>
            <a:r>
              <a:rPr lang="en-US" sz="2412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dijalankan</a:t>
            </a:r>
            <a:r>
              <a:rPr lang="en-US" sz="2412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lang="en-US" sz="2412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atau</a:t>
            </a:r>
            <a:r>
              <a:rPr lang="en-US" sz="2412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lang="en-US" sz="2412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sedang</a:t>
            </a:r>
            <a:r>
              <a:rPr lang="en-US" sz="2412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lang="en-US" sz="2412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dalam</a:t>
            </a:r>
            <a:r>
              <a:rPr lang="en-US" sz="2412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lang="en-US" sz="2412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kondisi</a:t>
            </a:r>
            <a:r>
              <a:rPr lang="en-US" sz="2412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sleep </a:t>
            </a:r>
            <a:r>
              <a:rPr lang="en-US" sz="2412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atau</a:t>
            </a:r>
            <a:r>
              <a:rPr lang="en-US" sz="2412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idle.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7352704"/>
            <a:ext cx="11161728" cy="12798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76"/>
              </a:lnSpc>
            </a:pPr>
            <a:r>
              <a:rPr lang="en-US" sz="2412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4. </a:t>
            </a:r>
            <a:r>
              <a:rPr lang="en-US" sz="2412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Kegunaan</a:t>
            </a:r>
            <a:r>
              <a:rPr lang="en-US" sz="2412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lang="en-US" sz="2412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utama</a:t>
            </a:r>
            <a:r>
              <a:rPr lang="en-US" sz="2412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alarm manager </a:t>
            </a:r>
            <a:r>
              <a:rPr lang="en-US" sz="2412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adalah</a:t>
            </a:r>
            <a:r>
              <a:rPr lang="en-US" sz="2412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lang="en-US" sz="2412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untuk</a:t>
            </a:r>
            <a:r>
              <a:rPr lang="en-US" sz="2412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lang="en-US" sz="2412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meminimalkan</a:t>
            </a:r>
            <a:r>
              <a:rPr lang="en-US" sz="2412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</a:p>
          <a:p>
            <a:pPr algn="just">
              <a:lnSpc>
                <a:spcPts val="3376"/>
              </a:lnSpc>
            </a:pPr>
            <a:r>
              <a:rPr lang="en-US" sz="2412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penggunaan</a:t>
            </a:r>
            <a:r>
              <a:rPr lang="en-US" sz="2412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resource dan </a:t>
            </a:r>
            <a:r>
              <a:rPr lang="en-US" sz="2412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untuk</a:t>
            </a:r>
            <a:r>
              <a:rPr lang="en-US" sz="2412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lang="en-US" sz="2412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menghindari</a:t>
            </a:r>
            <a:r>
              <a:rPr lang="en-US" sz="2412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lang="en-US" sz="2412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penggunaan</a:t>
            </a:r>
            <a:r>
              <a:rPr lang="en-US" sz="2412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timer</a:t>
            </a:r>
          </a:p>
          <a:p>
            <a:pPr algn="just">
              <a:lnSpc>
                <a:spcPts val="3376"/>
              </a:lnSpc>
            </a:pPr>
            <a:r>
              <a:rPr lang="en-US" sz="2412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dan background service </a:t>
            </a:r>
            <a:r>
              <a:rPr lang="en-US" sz="2412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terlalu</a:t>
            </a:r>
            <a:r>
              <a:rPr lang="en-US" sz="2412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lang="en-US" sz="2412" dirty="0" err="1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sering</a:t>
            </a:r>
            <a:r>
              <a:rPr lang="en-US" sz="2412" dirty="0">
                <a:solidFill>
                  <a:srgbClr val="7B4C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.</a:t>
            </a:r>
          </a:p>
        </p:txBody>
      </p:sp>
      <p:sp>
        <p:nvSpPr>
          <p:cNvPr id="11" name="Freeform 11"/>
          <p:cNvSpPr/>
          <p:nvPr/>
        </p:nvSpPr>
        <p:spPr>
          <a:xfrm flipH="1">
            <a:off x="11699828" y="9018656"/>
            <a:ext cx="3088973" cy="2285840"/>
          </a:xfrm>
          <a:custGeom>
            <a:avLst/>
            <a:gdLst/>
            <a:ahLst/>
            <a:cxnLst/>
            <a:rect l="l" t="t" r="r" b="b"/>
            <a:pathLst>
              <a:path w="3088973" h="2285840">
                <a:moveTo>
                  <a:pt x="3088973" y="0"/>
                </a:moveTo>
                <a:lnTo>
                  <a:pt x="0" y="0"/>
                </a:lnTo>
                <a:lnTo>
                  <a:pt x="0" y="2285841"/>
                </a:lnTo>
                <a:lnTo>
                  <a:pt x="3088973" y="2285841"/>
                </a:lnTo>
                <a:lnTo>
                  <a:pt x="3088973" y="0"/>
                </a:lnTo>
                <a:close/>
              </a:path>
            </a:pathLst>
          </a:custGeom>
          <a:blipFill>
            <a:blip r:embed="rId5">
              <a:alphaModFix amt="23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12" name="Group 12"/>
          <p:cNvGrpSpPr/>
          <p:nvPr/>
        </p:nvGrpSpPr>
        <p:grpSpPr>
          <a:xfrm>
            <a:off x="1028700" y="9274839"/>
            <a:ext cx="9981479" cy="175165"/>
            <a:chOff x="0" y="0"/>
            <a:chExt cx="2628867" cy="4613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628867" cy="46134"/>
            </a:xfrm>
            <a:custGeom>
              <a:avLst/>
              <a:gdLst/>
              <a:ahLst/>
              <a:cxnLst/>
              <a:rect l="l" t="t" r="r" b="b"/>
              <a:pathLst>
                <a:path w="2628867" h="46134">
                  <a:moveTo>
                    <a:pt x="0" y="0"/>
                  </a:moveTo>
                  <a:lnTo>
                    <a:pt x="2628867" y="0"/>
                  </a:lnTo>
                  <a:lnTo>
                    <a:pt x="2628867" y="46134"/>
                  </a:lnTo>
                  <a:lnTo>
                    <a:pt x="0" y="46134"/>
                  </a:lnTo>
                  <a:close/>
                </a:path>
              </a:pathLst>
            </a:custGeom>
            <a:solidFill>
              <a:srgbClr val="D2C1B6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2628867" cy="842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6035642" y="9258300"/>
            <a:ext cx="982727" cy="636341"/>
            <a:chOff x="0" y="0"/>
            <a:chExt cx="258825" cy="16759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58825" cy="167596"/>
            </a:xfrm>
            <a:custGeom>
              <a:avLst/>
              <a:gdLst/>
              <a:ahLst/>
              <a:cxnLst/>
              <a:rect l="l" t="t" r="r" b="b"/>
              <a:pathLst>
                <a:path w="258825" h="167596">
                  <a:moveTo>
                    <a:pt x="83798" y="0"/>
                  </a:moveTo>
                  <a:lnTo>
                    <a:pt x="175027" y="0"/>
                  </a:lnTo>
                  <a:cubicBezTo>
                    <a:pt x="221308" y="0"/>
                    <a:pt x="258825" y="37518"/>
                    <a:pt x="258825" y="83798"/>
                  </a:cubicBezTo>
                  <a:lnTo>
                    <a:pt x="258825" y="83798"/>
                  </a:lnTo>
                  <a:cubicBezTo>
                    <a:pt x="258825" y="130078"/>
                    <a:pt x="221308" y="167596"/>
                    <a:pt x="175027" y="167596"/>
                  </a:cubicBezTo>
                  <a:lnTo>
                    <a:pt x="83798" y="167596"/>
                  </a:lnTo>
                  <a:cubicBezTo>
                    <a:pt x="37518" y="167596"/>
                    <a:pt x="0" y="130078"/>
                    <a:pt x="0" y="83798"/>
                  </a:cubicBezTo>
                  <a:lnTo>
                    <a:pt x="0" y="83798"/>
                  </a:lnTo>
                  <a:cubicBezTo>
                    <a:pt x="0" y="37518"/>
                    <a:pt x="37518" y="0"/>
                    <a:pt x="83798" y="0"/>
                  </a:cubicBezTo>
                  <a:close/>
                </a:path>
              </a:pathLst>
            </a:custGeom>
            <a:solidFill>
              <a:srgbClr val="D2C1B6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258825" cy="2056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6181145" y="9248775"/>
            <a:ext cx="691721" cy="4844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28"/>
              </a:lnSpc>
            </a:pPr>
            <a:r>
              <a:rPr lang="en-US" sz="2877" b="1">
                <a:solidFill>
                  <a:srgbClr val="1B3C53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09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7067659" y="9415048"/>
            <a:ext cx="2388751" cy="318171"/>
            <a:chOff x="0" y="0"/>
            <a:chExt cx="629136" cy="83798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29136" cy="83798"/>
            </a:xfrm>
            <a:custGeom>
              <a:avLst/>
              <a:gdLst/>
              <a:ahLst/>
              <a:cxnLst/>
              <a:rect l="l" t="t" r="r" b="b"/>
              <a:pathLst>
                <a:path w="629136" h="83798">
                  <a:moveTo>
                    <a:pt x="41899" y="0"/>
                  </a:moveTo>
                  <a:lnTo>
                    <a:pt x="587237" y="0"/>
                  </a:lnTo>
                  <a:cubicBezTo>
                    <a:pt x="598349" y="0"/>
                    <a:pt x="609007" y="4414"/>
                    <a:pt x="616864" y="12272"/>
                  </a:cubicBezTo>
                  <a:cubicBezTo>
                    <a:pt x="624722" y="20130"/>
                    <a:pt x="629136" y="30787"/>
                    <a:pt x="629136" y="41899"/>
                  </a:cubicBezTo>
                  <a:lnTo>
                    <a:pt x="629136" y="41899"/>
                  </a:lnTo>
                  <a:cubicBezTo>
                    <a:pt x="629136" y="53011"/>
                    <a:pt x="624722" y="63668"/>
                    <a:pt x="616864" y="71526"/>
                  </a:cubicBezTo>
                  <a:cubicBezTo>
                    <a:pt x="609007" y="79384"/>
                    <a:pt x="598349" y="83798"/>
                    <a:pt x="587237" y="83798"/>
                  </a:cubicBezTo>
                  <a:lnTo>
                    <a:pt x="41899" y="83798"/>
                  </a:lnTo>
                  <a:cubicBezTo>
                    <a:pt x="30787" y="83798"/>
                    <a:pt x="20130" y="79384"/>
                    <a:pt x="12272" y="71526"/>
                  </a:cubicBezTo>
                  <a:cubicBezTo>
                    <a:pt x="4414" y="63668"/>
                    <a:pt x="0" y="53011"/>
                    <a:pt x="0" y="41899"/>
                  </a:cubicBezTo>
                  <a:lnTo>
                    <a:pt x="0" y="41899"/>
                  </a:lnTo>
                  <a:cubicBezTo>
                    <a:pt x="0" y="30787"/>
                    <a:pt x="4414" y="20130"/>
                    <a:pt x="12272" y="12272"/>
                  </a:cubicBezTo>
                  <a:cubicBezTo>
                    <a:pt x="20130" y="4414"/>
                    <a:pt x="30787" y="0"/>
                    <a:pt x="41899" y="0"/>
                  </a:cubicBezTo>
                  <a:close/>
                </a:path>
              </a:pathLst>
            </a:custGeom>
            <a:solidFill>
              <a:srgbClr val="D2C1B6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629136" cy="1218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34753" y="-403557"/>
            <a:ext cx="20829275" cy="986808"/>
            <a:chOff x="0" y="0"/>
            <a:chExt cx="5485900" cy="2599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485900" cy="259900"/>
            </a:xfrm>
            <a:custGeom>
              <a:avLst/>
              <a:gdLst/>
              <a:ahLst/>
              <a:cxnLst/>
              <a:rect l="l" t="t" r="r" b="b"/>
              <a:pathLst>
                <a:path w="5485900" h="259900">
                  <a:moveTo>
                    <a:pt x="0" y="0"/>
                  </a:moveTo>
                  <a:lnTo>
                    <a:pt x="5485900" y="0"/>
                  </a:lnTo>
                  <a:lnTo>
                    <a:pt x="5485900" y="259900"/>
                  </a:lnTo>
                  <a:lnTo>
                    <a:pt x="0" y="259900"/>
                  </a:lnTo>
                  <a:close/>
                </a:path>
              </a:pathLst>
            </a:custGeom>
            <a:solidFill>
              <a:srgbClr val="D2C1B6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485900" cy="298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172689" y="3034318"/>
            <a:ext cx="14429511" cy="5912733"/>
            <a:chOff x="0" y="0"/>
            <a:chExt cx="3947936" cy="49757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947936" cy="497573"/>
            </a:xfrm>
            <a:custGeom>
              <a:avLst/>
              <a:gdLst/>
              <a:ahLst/>
              <a:cxnLst/>
              <a:rect l="l" t="t" r="r" b="b"/>
              <a:pathLst>
                <a:path w="3947936" h="497573">
                  <a:moveTo>
                    <a:pt x="0" y="0"/>
                  </a:moveTo>
                  <a:lnTo>
                    <a:pt x="3947936" y="0"/>
                  </a:lnTo>
                  <a:lnTo>
                    <a:pt x="3947936" y="497573"/>
                  </a:lnTo>
                  <a:lnTo>
                    <a:pt x="0" y="497573"/>
                  </a:lnTo>
                  <a:close/>
                </a:path>
              </a:pathLst>
            </a:custGeom>
            <a:solidFill>
              <a:srgbClr val="456882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3947936" cy="5356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244097" y="2576776"/>
            <a:ext cx="1931905" cy="1257494"/>
          </a:xfrm>
          <a:custGeom>
            <a:avLst/>
            <a:gdLst/>
            <a:ahLst/>
            <a:cxnLst/>
            <a:rect l="l" t="t" r="r" b="b"/>
            <a:pathLst>
              <a:path w="1931905" h="1257494">
                <a:moveTo>
                  <a:pt x="0" y="0"/>
                </a:moveTo>
                <a:lnTo>
                  <a:pt x="1931905" y="0"/>
                </a:lnTo>
                <a:lnTo>
                  <a:pt x="1931905" y="1257495"/>
                </a:lnTo>
                <a:lnTo>
                  <a:pt x="0" y="12574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 dirty="0"/>
          </a:p>
        </p:txBody>
      </p:sp>
      <p:sp>
        <p:nvSpPr>
          <p:cNvPr id="13" name="Freeform 13"/>
          <p:cNvSpPr/>
          <p:nvPr/>
        </p:nvSpPr>
        <p:spPr>
          <a:xfrm>
            <a:off x="1390034" y="6452731"/>
            <a:ext cx="1448050" cy="1448050"/>
          </a:xfrm>
          <a:custGeom>
            <a:avLst/>
            <a:gdLst/>
            <a:ahLst/>
            <a:cxnLst/>
            <a:rect l="l" t="t" r="r" b="b"/>
            <a:pathLst>
              <a:path w="1448050" h="1448050">
                <a:moveTo>
                  <a:pt x="0" y="0"/>
                </a:moveTo>
                <a:lnTo>
                  <a:pt x="1448050" y="0"/>
                </a:lnTo>
                <a:lnTo>
                  <a:pt x="1448050" y="1448050"/>
                </a:lnTo>
                <a:lnTo>
                  <a:pt x="0" y="14480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 rot="-5400000" flipH="1" flipV="1">
            <a:off x="83987" y="-487544"/>
            <a:ext cx="2398284" cy="2566257"/>
          </a:xfrm>
          <a:custGeom>
            <a:avLst/>
            <a:gdLst/>
            <a:ahLst/>
            <a:cxnLst/>
            <a:rect l="l" t="t" r="r" b="b"/>
            <a:pathLst>
              <a:path w="2398284" h="2566257">
                <a:moveTo>
                  <a:pt x="2398283" y="2566257"/>
                </a:moveTo>
                <a:lnTo>
                  <a:pt x="0" y="2566257"/>
                </a:lnTo>
                <a:lnTo>
                  <a:pt x="0" y="0"/>
                </a:lnTo>
                <a:lnTo>
                  <a:pt x="2398283" y="0"/>
                </a:lnTo>
                <a:lnTo>
                  <a:pt x="2398283" y="2566257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3528677" y="3183855"/>
            <a:ext cx="13014893" cy="6055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76"/>
              </a:lnSpc>
            </a:pP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Penyimpanan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data di Android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terdiri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dari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:</a:t>
            </a:r>
          </a:p>
          <a:p>
            <a:pPr algn="just">
              <a:lnSpc>
                <a:spcPts val="3376"/>
              </a:lnSpc>
            </a:pP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1. Shared Preferences :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penyimpanan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data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primitif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privat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dalam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bentuk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pasangan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key-value.</a:t>
            </a:r>
          </a:p>
          <a:p>
            <a:pPr algn="just">
              <a:lnSpc>
                <a:spcPts val="3376"/>
              </a:lnSpc>
            </a:pP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2. Internal Storage :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penyimpananan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data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privat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pada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memori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perangkat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. Internal storage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ini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selalu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tersedia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dan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menggunakan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</a:t>
            </a:r>
          </a:p>
          <a:p>
            <a:pPr algn="just">
              <a:lnSpc>
                <a:spcPts val="3376"/>
              </a:lnSpc>
            </a:pP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file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sistem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dari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perangkat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. Hanya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aplikasi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yang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dapat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mengakses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file,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kecuali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secara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eksplisit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di readable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atau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writable. Jika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aplikasi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di uninstall,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maka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sistem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akan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menghapus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sema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file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dari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penyimpanan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internal.</a:t>
            </a:r>
          </a:p>
          <a:p>
            <a:pPr algn="just">
              <a:lnSpc>
                <a:spcPts val="3376"/>
              </a:lnSpc>
            </a:pP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3. External Storage :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penyimpanan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data public pada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perangkat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atau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penyimpanan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eksternal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.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Penyimpanan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eksternal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ini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tidak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selalu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tersedia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,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dapat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dihapus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,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menggunakan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file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sistem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dari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perangkat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atau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penyimpanan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fisik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eksternal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seperti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SD Card,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bersifat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world readable,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sehingga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semua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aplikasi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bisa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membacanya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. Jika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diuninstall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,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sistem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tidak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menghapus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data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privat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dari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aplikasi.Untuk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menggunakan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penyimpanan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eksternal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seperti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SD Card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perlu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memberikan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permission di Android Manifest.&lt;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uses-permissionandroid:name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="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android.permission.WRITE_EXTERNAL_STORAGE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" /&gt;&lt;uses-permission </a:t>
            </a:r>
          </a:p>
          <a:p>
            <a:pPr algn="just">
              <a:lnSpc>
                <a:spcPts val="3376"/>
              </a:lnSpc>
            </a:pP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android:name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="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android.permission.READ_EXTERNAL_STORAGE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" /&gt;</a:t>
            </a:r>
          </a:p>
          <a:p>
            <a:pPr algn="just">
              <a:lnSpc>
                <a:spcPts val="3376"/>
              </a:lnSpc>
            </a:pP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4. SQLite Database :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struktur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data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dalam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bentuk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database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privat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.</a:t>
            </a:r>
          </a:p>
          <a:p>
            <a:pPr algn="just">
              <a:lnSpc>
                <a:spcPts val="3376"/>
              </a:lnSpc>
            </a:pP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5. Content Provider: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penyimpanan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private dan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dapat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tersedia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juga </a:t>
            </a:r>
          </a:p>
          <a:p>
            <a:pPr algn="just">
              <a:lnSpc>
                <a:spcPts val="3376"/>
              </a:lnSpc>
            </a:pP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untuk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public.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16035642" y="9258300"/>
            <a:ext cx="982727" cy="636341"/>
            <a:chOff x="0" y="0"/>
            <a:chExt cx="258825" cy="16759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58825" cy="167596"/>
            </a:xfrm>
            <a:custGeom>
              <a:avLst/>
              <a:gdLst/>
              <a:ahLst/>
              <a:cxnLst/>
              <a:rect l="l" t="t" r="r" b="b"/>
              <a:pathLst>
                <a:path w="258825" h="167596">
                  <a:moveTo>
                    <a:pt x="83798" y="0"/>
                  </a:moveTo>
                  <a:lnTo>
                    <a:pt x="175027" y="0"/>
                  </a:lnTo>
                  <a:cubicBezTo>
                    <a:pt x="221308" y="0"/>
                    <a:pt x="258825" y="37518"/>
                    <a:pt x="258825" y="83798"/>
                  </a:cubicBezTo>
                  <a:lnTo>
                    <a:pt x="258825" y="83798"/>
                  </a:lnTo>
                  <a:cubicBezTo>
                    <a:pt x="258825" y="130078"/>
                    <a:pt x="221308" y="167596"/>
                    <a:pt x="175027" y="167596"/>
                  </a:cubicBezTo>
                  <a:lnTo>
                    <a:pt x="83798" y="167596"/>
                  </a:lnTo>
                  <a:cubicBezTo>
                    <a:pt x="37518" y="167596"/>
                    <a:pt x="0" y="130078"/>
                    <a:pt x="0" y="83798"/>
                  </a:cubicBezTo>
                  <a:lnTo>
                    <a:pt x="0" y="83798"/>
                  </a:lnTo>
                  <a:cubicBezTo>
                    <a:pt x="0" y="37518"/>
                    <a:pt x="37518" y="0"/>
                    <a:pt x="83798" y="0"/>
                  </a:cubicBezTo>
                  <a:close/>
                </a:path>
              </a:pathLst>
            </a:custGeom>
            <a:solidFill>
              <a:srgbClr val="D2C1B6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258825" cy="2056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6181145" y="9248775"/>
            <a:ext cx="691721" cy="4844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28"/>
              </a:lnSpc>
            </a:pPr>
            <a:r>
              <a:rPr lang="en-US" sz="2877" b="1">
                <a:solidFill>
                  <a:srgbClr val="1B3C53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10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17067659" y="9415048"/>
            <a:ext cx="2388751" cy="318171"/>
            <a:chOff x="0" y="0"/>
            <a:chExt cx="629136" cy="83798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629136" cy="83798"/>
            </a:xfrm>
            <a:custGeom>
              <a:avLst/>
              <a:gdLst/>
              <a:ahLst/>
              <a:cxnLst/>
              <a:rect l="l" t="t" r="r" b="b"/>
              <a:pathLst>
                <a:path w="629136" h="83798">
                  <a:moveTo>
                    <a:pt x="41899" y="0"/>
                  </a:moveTo>
                  <a:lnTo>
                    <a:pt x="587237" y="0"/>
                  </a:lnTo>
                  <a:cubicBezTo>
                    <a:pt x="598349" y="0"/>
                    <a:pt x="609007" y="4414"/>
                    <a:pt x="616864" y="12272"/>
                  </a:cubicBezTo>
                  <a:cubicBezTo>
                    <a:pt x="624722" y="20130"/>
                    <a:pt x="629136" y="30787"/>
                    <a:pt x="629136" y="41899"/>
                  </a:cubicBezTo>
                  <a:lnTo>
                    <a:pt x="629136" y="41899"/>
                  </a:lnTo>
                  <a:cubicBezTo>
                    <a:pt x="629136" y="53011"/>
                    <a:pt x="624722" y="63668"/>
                    <a:pt x="616864" y="71526"/>
                  </a:cubicBezTo>
                  <a:cubicBezTo>
                    <a:pt x="609007" y="79384"/>
                    <a:pt x="598349" y="83798"/>
                    <a:pt x="587237" y="83798"/>
                  </a:cubicBezTo>
                  <a:lnTo>
                    <a:pt x="41899" y="83798"/>
                  </a:lnTo>
                  <a:cubicBezTo>
                    <a:pt x="30787" y="83798"/>
                    <a:pt x="20130" y="79384"/>
                    <a:pt x="12272" y="71526"/>
                  </a:cubicBezTo>
                  <a:cubicBezTo>
                    <a:pt x="4414" y="63668"/>
                    <a:pt x="0" y="53011"/>
                    <a:pt x="0" y="41899"/>
                  </a:cubicBezTo>
                  <a:lnTo>
                    <a:pt x="0" y="41899"/>
                  </a:lnTo>
                  <a:cubicBezTo>
                    <a:pt x="0" y="30787"/>
                    <a:pt x="4414" y="20130"/>
                    <a:pt x="12272" y="12272"/>
                  </a:cubicBezTo>
                  <a:cubicBezTo>
                    <a:pt x="20130" y="4414"/>
                    <a:pt x="30787" y="0"/>
                    <a:pt x="41899" y="0"/>
                  </a:cubicBezTo>
                  <a:close/>
                </a:path>
              </a:pathLst>
            </a:custGeom>
            <a:solidFill>
              <a:srgbClr val="D2C1B6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629136" cy="1218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5" name="TextBox 8">
            <a:extLst>
              <a:ext uri="{FF2B5EF4-FFF2-40B4-BE49-F238E27FC236}">
                <a16:creationId xmlns:a16="http://schemas.microsoft.com/office/drawing/2014/main" id="{D5EA47FE-ED1E-B08B-D32D-E9016C0B521A}"/>
              </a:ext>
            </a:extLst>
          </p:cNvPr>
          <p:cNvSpPr txBox="1"/>
          <p:nvPr/>
        </p:nvSpPr>
        <p:spPr>
          <a:xfrm>
            <a:off x="-1371600" y="808878"/>
            <a:ext cx="13603583" cy="970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095"/>
              </a:lnSpc>
            </a:pPr>
            <a:r>
              <a:rPr lang="en-US" sz="6000" b="1" dirty="0" err="1">
                <a:solidFill>
                  <a:srgbClr val="1B3C53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Pertemuan</a:t>
            </a:r>
            <a:r>
              <a:rPr lang="en-US" sz="6000" b="1" dirty="0">
                <a:solidFill>
                  <a:srgbClr val="1B3C53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 5</a:t>
            </a:r>
          </a:p>
        </p:txBody>
      </p:sp>
      <p:sp>
        <p:nvSpPr>
          <p:cNvPr id="26" name="TextBox 8">
            <a:extLst>
              <a:ext uri="{FF2B5EF4-FFF2-40B4-BE49-F238E27FC236}">
                <a16:creationId xmlns:a16="http://schemas.microsoft.com/office/drawing/2014/main" id="{14A4AC48-F4C1-30CD-632A-C2B2E3BAE098}"/>
              </a:ext>
            </a:extLst>
          </p:cNvPr>
          <p:cNvSpPr txBox="1"/>
          <p:nvPr/>
        </p:nvSpPr>
        <p:spPr>
          <a:xfrm>
            <a:off x="-152400" y="1339948"/>
            <a:ext cx="13603583" cy="871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095"/>
              </a:lnSpc>
            </a:pPr>
            <a:r>
              <a:rPr lang="en-US" sz="2800" b="1" dirty="0" err="1">
                <a:solidFill>
                  <a:srgbClr val="1B3C53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Penyimpanan</a:t>
            </a:r>
            <a:r>
              <a:rPr lang="en-US" sz="2800" b="1" dirty="0">
                <a:solidFill>
                  <a:srgbClr val="1B3C53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 </a:t>
            </a:r>
            <a:r>
              <a:rPr lang="en-US" sz="2800" b="1" dirty="0" err="1">
                <a:solidFill>
                  <a:srgbClr val="1B3C53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daya</a:t>
            </a:r>
            <a:r>
              <a:rPr lang="en-US" sz="2800" b="1" dirty="0">
                <a:solidFill>
                  <a:srgbClr val="1B3C53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 internal dan </a:t>
            </a:r>
            <a:r>
              <a:rPr lang="en-US" sz="2800" b="1" dirty="0" err="1">
                <a:solidFill>
                  <a:srgbClr val="1B3C53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eksternal</a:t>
            </a:r>
            <a:endParaRPr lang="en-US" sz="2800" b="1" dirty="0">
              <a:solidFill>
                <a:srgbClr val="1B3C53"/>
              </a:solidFill>
              <a:latin typeface="Playfair Display Bold"/>
              <a:ea typeface="Playfair Display Bold"/>
              <a:cs typeface="Playfair Display Bold"/>
              <a:sym typeface="Playfair Display Bol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34753" y="-403557"/>
            <a:ext cx="20829275" cy="5800518"/>
            <a:chOff x="0" y="0"/>
            <a:chExt cx="5485900" cy="152770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485900" cy="1527708"/>
            </a:xfrm>
            <a:custGeom>
              <a:avLst/>
              <a:gdLst/>
              <a:ahLst/>
              <a:cxnLst/>
              <a:rect l="l" t="t" r="r" b="b"/>
              <a:pathLst>
                <a:path w="5485900" h="1527708">
                  <a:moveTo>
                    <a:pt x="0" y="0"/>
                  </a:moveTo>
                  <a:lnTo>
                    <a:pt x="5485900" y="0"/>
                  </a:lnTo>
                  <a:lnTo>
                    <a:pt x="5485900" y="1527708"/>
                  </a:lnTo>
                  <a:lnTo>
                    <a:pt x="0" y="1527708"/>
                  </a:lnTo>
                  <a:close/>
                </a:path>
              </a:pathLst>
            </a:custGeom>
            <a:solidFill>
              <a:srgbClr val="D2C1B6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485900" cy="15658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828800" y="1720245"/>
            <a:ext cx="13737121" cy="6167220"/>
            <a:chOff x="0" y="0"/>
            <a:chExt cx="3618007" cy="162428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618007" cy="1624288"/>
            </a:xfrm>
            <a:custGeom>
              <a:avLst/>
              <a:gdLst/>
              <a:ahLst/>
              <a:cxnLst/>
              <a:rect l="l" t="t" r="r" b="b"/>
              <a:pathLst>
                <a:path w="3618007" h="1624288">
                  <a:moveTo>
                    <a:pt x="26488" y="0"/>
                  </a:moveTo>
                  <a:lnTo>
                    <a:pt x="3591519" y="0"/>
                  </a:lnTo>
                  <a:cubicBezTo>
                    <a:pt x="3598544" y="0"/>
                    <a:pt x="3605281" y="2791"/>
                    <a:pt x="3610249" y="7758"/>
                  </a:cubicBezTo>
                  <a:cubicBezTo>
                    <a:pt x="3615217" y="12726"/>
                    <a:pt x="3618007" y="19463"/>
                    <a:pt x="3618007" y="26488"/>
                  </a:cubicBezTo>
                  <a:lnTo>
                    <a:pt x="3618007" y="1597800"/>
                  </a:lnTo>
                  <a:cubicBezTo>
                    <a:pt x="3618007" y="1604825"/>
                    <a:pt x="3615217" y="1611563"/>
                    <a:pt x="3610249" y="1616530"/>
                  </a:cubicBezTo>
                  <a:cubicBezTo>
                    <a:pt x="3605281" y="1621498"/>
                    <a:pt x="3598544" y="1624288"/>
                    <a:pt x="3591519" y="1624288"/>
                  </a:cubicBezTo>
                  <a:lnTo>
                    <a:pt x="26488" y="1624288"/>
                  </a:lnTo>
                  <a:cubicBezTo>
                    <a:pt x="19463" y="1624288"/>
                    <a:pt x="12726" y="1621498"/>
                    <a:pt x="7758" y="1616530"/>
                  </a:cubicBezTo>
                  <a:cubicBezTo>
                    <a:pt x="2791" y="1611563"/>
                    <a:pt x="0" y="1604825"/>
                    <a:pt x="0" y="1597800"/>
                  </a:cubicBezTo>
                  <a:lnTo>
                    <a:pt x="0" y="26488"/>
                  </a:lnTo>
                  <a:cubicBezTo>
                    <a:pt x="0" y="19463"/>
                    <a:pt x="2791" y="12726"/>
                    <a:pt x="7758" y="7758"/>
                  </a:cubicBezTo>
                  <a:cubicBezTo>
                    <a:pt x="12726" y="2791"/>
                    <a:pt x="19463" y="0"/>
                    <a:pt x="26488" y="0"/>
                  </a:cubicBezTo>
                  <a:close/>
                </a:path>
              </a:pathLst>
            </a:custGeom>
            <a:solidFill>
              <a:srgbClr val="456882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3618007" cy="16623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2057400" y="2059890"/>
            <a:ext cx="13737121" cy="6167220"/>
            <a:chOff x="0" y="0"/>
            <a:chExt cx="3618007" cy="162428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618007" cy="1624288"/>
            </a:xfrm>
            <a:custGeom>
              <a:avLst/>
              <a:gdLst/>
              <a:ahLst/>
              <a:cxnLst/>
              <a:rect l="l" t="t" r="r" b="b"/>
              <a:pathLst>
                <a:path w="3618007" h="1624288">
                  <a:moveTo>
                    <a:pt x="26488" y="0"/>
                  </a:moveTo>
                  <a:lnTo>
                    <a:pt x="3591519" y="0"/>
                  </a:lnTo>
                  <a:cubicBezTo>
                    <a:pt x="3598544" y="0"/>
                    <a:pt x="3605281" y="2791"/>
                    <a:pt x="3610249" y="7758"/>
                  </a:cubicBezTo>
                  <a:cubicBezTo>
                    <a:pt x="3615217" y="12726"/>
                    <a:pt x="3618007" y="19463"/>
                    <a:pt x="3618007" y="26488"/>
                  </a:cubicBezTo>
                  <a:lnTo>
                    <a:pt x="3618007" y="1597800"/>
                  </a:lnTo>
                  <a:cubicBezTo>
                    <a:pt x="3618007" y="1604825"/>
                    <a:pt x="3615217" y="1611563"/>
                    <a:pt x="3610249" y="1616530"/>
                  </a:cubicBezTo>
                  <a:cubicBezTo>
                    <a:pt x="3605281" y="1621498"/>
                    <a:pt x="3598544" y="1624288"/>
                    <a:pt x="3591519" y="1624288"/>
                  </a:cubicBezTo>
                  <a:lnTo>
                    <a:pt x="26488" y="1624288"/>
                  </a:lnTo>
                  <a:cubicBezTo>
                    <a:pt x="19463" y="1624288"/>
                    <a:pt x="12726" y="1621498"/>
                    <a:pt x="7758" y="1616530"/>
                  </a:cubicBezTo>
                  <a:cubicBezTo>
                    <a:pt x="2791" y="1611563"/>
                    <a:pt x="0" y="1604825"/>
                    <a:pt x="0" y="1597800"/>
                  </a:cubicBezTo>
                  <a:lnTo>
                    <a:pt x="0" y="26488"/>
                  </a:lnTo>
                  <a:cubicBezTo>
                    <a:pt x="0" y="19463"/>
                    <a:pt x="2791" y="12726"/>
                    <a:pt x="7758" y="7758"/>
                  </a:cubicBezTo>
                  <a:cubicBezTo>
                    <a:pt x="12726" y="2791"/>
                    <a:pt x="19463" y="0"/>
                    <a:pt x="26488" y="0"/>
                  </a:cubicBezTo>
                  <a:close/>
                </a:path>
              </a:pathLst>
            </a:custGeom>
            <a:ln w="57150" cap="rnd">
              <a:solidFill>
                <a:srgbClr val="D2C1B6"/>
              </a:solidFill>
              <a:prstDash val="solid"/>
              <a:round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3618007" cy="16623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3048000" y="2671636"/>
            <a:ext cx="10587373" cy="4264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202"/>
              </a:lnSpc>
            </a:pPr>
            <a:r>
              <a:rPr lang="en-US" sz="3001" dirty="0" err="1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Bagaimana</a:t>
            </a:r>
            <a:r>
              <a:rPr lang="en-US" sz="3001" dirty="0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</a:t>
            </a:r>
            <a:r>
              <a:rPr lang="en-US" sz="3001" dirty="0" err="1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mengakses</a:t>
            </a:r>
            <a:r>
              <a:rPr lang="en-US" sz="3001" dirty="0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</a:t>
            </a:r>
            <a:r>
              <a:rPr lang="en-US" sz="3001" dirty="0" err="1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obyek</a:t>
            </a:r>
            <a:r>
              <a:rPr lang="en-US" sz="3001" dirty="0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</a:t>
            </a:r>
            <a:r>
              <a:rPr lang="en-US" sz="3001" dirty="0" err="1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SharedPreferences</a:t>
            </a:r>
            <a:r>
              <a:rPr lang="en-US" sz="3001" dirty="0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? Ada dua </a:t>
            </a:r>
            <a:r>
              <a:rPr lang="en-US" sz="3001" dirty="0" err="1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metode</a:t>
            </a:r>
            <a:r>
              <a:rPr lang="en-US" sz="3001" dirty="0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:</a:t>
            </a:r>
          </a:p>
          <a:p>
            <a:pPr>
              <a:lnSpc>
                <a:spcPts val="4202"/>
              </a:lnSpc>
            </a:pPr>
            <a:endParaRPr lang="en-US" sz="3001" dirty="0">
              <a:solidFill>
                <a:srgbClr val="FFFFFF"/>
              </a:solidFill>
              <a:latin typeface="Times New Roman" panose="02020603050405020304" pitchFamily="18" charset="0"/>
              <a:ea typeface="Libre Baskerville"/>
              <a:cs typeface="Times New Roman" panose="02020603050405020304" pitchFamily="18" charset="0"/>
              <a:sym typeface="Libre Baskerville"/>
            </a:endParaRPr>
          </a:p>
          <a:p>
            <a:pPr>
              <a:lnSpc>
                <a:spcPts val="4202"/>
              </a:lnSpc>
            </a:pPr>
            <a:r>
              <a:rPr lang="en-US" sz="3001" dirty="0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1. </a:t>
            </a:r>
            <a:r>
              <a:rPr lang="en-US" sz="3001" dirty="0" err="1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getSharedPreferences</a:t>
            </a:r>
            <a:r>
              <a:rPr lang="en-US" sz="3001" dirty="0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(int mode)</a:t>
            </a:r>
          </a:p>
          <a:p>
            <a:pPr>
              <a:lnSpc>
                <a:spcPts val="4202"/>
              </a:lnSpc>
            </a:pPr>
            <a:r>
              <a:rPr lang="en-US" sz="3001" dirty="0" err="1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Digunakan</a:t>
            </a:r>
            <a:r>
              <a:rPr lang="en-US" sz="3001" dirty="0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</a:t>
            </a:r>
            <a:r>
              <a:rPr lang="en-US" sz="3001" dirty="0" err="1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untuk</a:t>
            </a:r>
            <a:r>
              <a:rPr lang="en-US" sz="3001" dirty="0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multiple preferences file </a:t>
            </a:r>
            <a:r>
              <a:rPr lang="en-US" sz="3001" dirty="0" err="1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dengan</a:t>
            </a:r>
            <a:r>
              <a:rPr lang="en-US" sz="3001" dirty="0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</a:t>
            </a:r>
          </a:p>
          <a:p>
            <a:pPr>
              <a:lnSpc>
                <a:spcPts val="4202"/>
              </a:lnSpc>
            </a:pPr>
            <a:r>
              <a:rPr lang="en-US" sz="3001" dirty="0" err="1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mengidentifikasi</a:t>
            </a:r>
            <a:r>
              <a:rPr lang="en-US" sz="3001" dirty="0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nama </a:t>
            </a:r>
            <a:r>
              <a:rPr lang="en-US" sz="3001" dirty="0" err="1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dari</a:t>
            </a:r>
            <a:r>
              <a:rPr lang="en-US" sz="3001" dirty="0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parameter </a:t>
            </a:r>
            <a:r>
              <a:rPr lang="en-US" sz="3001" dirty="0" err="1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pertama</a:t>
            </a:r>
            <a:r>
              <a:rPr lang="en-US" sz="3001" dirty="0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.</a:t>
            </a:r>
          </a:p>
          <a:p>
            <a:pPr>
              <a:lnSpc>
                <a:spcPts val="4202"/>
              </a:lnSpc>
            </a:pPr>
            <a:endParaRPr lang="en-US" sz="3001" dirty="0">
              <a:solidFill>
                <a:srgbClr val="FFFFFF"/>
              </a:solidFill>
              <a:latin typeface="Times New Roman" panose="02020603050405020304" pitchFamily="18" charset="0"/>
              <a:ea typeface="Libre Baskerville"/>
              <a:cs typeface="Times New Roman" panose="02020603050405020304" pitchFamily="18" charset="0"/>
              <a:sym typeface="Libre Baskerville"/>
            </a:endParaRPr>
          </a:p>
          <a:p>
            <a:pPr>
              <a:lnSpc>
                <a:spcPts val="4202"/>
              </a:lnSpc>
            </a:pPr>
            <a:r>
              <a:rPr lang="en-US" sz="3001" dirty="0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2. </a:t>
            </a:r>
            <a:r>
              <a:rPr lang="en-US" sz="3001" dirty="0" err="1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getPreferences</a:t>
            </a:r>
            <a:r>
              <a:rPr lang="en-US" sz="3001" dirty="0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(String name, int mode)</a:t>
            </a:r>
          </a:p>
          <a:p>
            <a:pPr>
              <a:lnSpc>
                <a:spcPts val="4202"/>
              </a:lnSpc>
            </a:pPr>
            <a:r>
              <a:rPr lang="en-US" sz="3001" dirty="0" err="1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digunakan</a:t>
            </a:r>
            <a:r>
              <a:rPr lang="en-US" sz="3001" dirty="0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</a:t>
            </a:r>
            <a:r>
              <a:rPr lang="en-US" sz="3001" dirty="0" err="1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untuk</a:t>
            </a:r>
            <a:r>
              <a:rPr lang="en-US" sz="3001" dirty="0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one preferences file </a:t>
            </a:r>
            <a:r>
              <a:rPr lang="en-US" sz="3001" dirty="0" err="1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untuk</a:t>
            </a:r>
            <a:r>
              <a:rPr lang="en-US" sz="3001" dirty="0">
                <a:solidFill>
                  <a:srgbClr val="FFFFFF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Activity.</a:t>
            </a:r>
          </a:p>
        </p:txBody>
      </p:sp>
      <p:sp>
        <p:nvSpPr>
          <p:cNvPr id="13" name="Freeform 13"/>
          <p:cNvSpPr/>
          <p:nvPr/>
        </p:nvSpPr>
        <p:spPr>
          <a:xfrm flipH="1">
            <a:off x="14473571" y="-1510076"/>
            <a:ext cx="4081285" cy="3020151"/>
          </a:xfrm>
          <a:custGeom>
            <a:avLst/>
            <a:gdLst/>
            <a:ahLst/>
            <a:cxnLst/>
            <a:rect l="l" t="t" r="r" b="b"/>
            <a:pathLst>
              <a:path w="4081285" h="3020151">
                <a:moveTo>
                  <a:pt x="4081286" y="0"/>
                </a:moveTo>
                <a:lnTo>
                  <a:pt x="0" y="0"/>
                </a:lnTo>
                <a:lnTo>
                  <a:pt x="0" y="3020152"/>
                </a:lnTo>
                <a:lnTo>
                  <a:pt x="4081286" y="3020152"/>
                </a:lnTo>
                <a:lnTo>
                  <a:pt x="4081286" y="0"/>
                </a:lnTo>
                <a:close/>
              </a:path>
            </a:pathLst>
          </a:custGeom>
          <a:blipFill>
            <a:blip r:embed="rId2">
              <a:alphaModFix amt="3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-369303" y="8090042"/>
            <a:ext cx="3685104" cy="2968184"/>
          </a:xfrm>
          <a:custGeom>
            <a:avLst/>
            <a:gdLst/>
            <a:ahLst/>
            <a:cxnLst/>
            <a:rect l="l" t="t" r="r" b="b"/>
            <a:pathLst>
              <a:path w="3685104" h="2968184">
                <a:moveTo>
                  <a:pt x="0" y="0"/>
                </a:moveTo>
                <a:lnTo>
                  <a:pt x="3685104" y="0"/>
                </a:lnTo>
                <a:lnTo>
                  <a:pt x="3685104" y="2968184"/>
                </a:lnTo>
                <a:lnTo>
                  <a:pt x="0" y="29681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9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5" name="Group 15"/>
          <p:cNvGrpSpPr/>
          <p:nvPr/>
        </p:nvGrpSpPr>
        <p:grpSpPr>
          <a:xfrm>
            <a:off x="16035642" y="9258300"/>
            <a:ext cx="982727" cy="636341"/>
            <a:chOff x="0" y="0"/>
            <a:chExt cx="258825" cy="16759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58825" cy="167596"/>
            </a:xfrm>
            <a:custGeom>
              <a:avLst/>
              <a:gdLst/>
              <a:ahLst/>
              <a:cxnLst/>
              <a:rect l="l" t="t" r="r" b="b"/>
              <a:pathLst>
                <a:path w="258825" h="167596">
                  <a:moveTo>
                    <a:pt x="83798" y="0"/>
                  </a:moveTo>
                  <a:lnTo>
                    <a:pt x="175027" y="0"/>
                  </a:lnTo>
                  <a:cubicBezTo>
                    <a:pt x="221308" y="0"/>
                    <a:pt x="258825" y="37518"/>
                    <a:pt x="258825" y="83798"/>
                  </a:cubicBezTo>
                  <a:lnTo>
                    <a:pt x="258825" y="83798"/>
                  </a:lnTo>
                  <a:cubicBezTo>
                    <a:pt x="258825" y="130078"/>
                    <a:pt x="221308" y="167596"/>
                    <a:pt x="175027" y="167596"/>
                  </a:cubicBezTo>
                  <a:lnTo>
                    <a:pt x="83798" y="167596"/>
                  </a:lnTo>
                  <a:cubicBezTo>
                    <a:pt x="37518" y="167596"/>
                    <a:pt x="0" y="130078"/>
                    <a:pt x="0" y="83798"/>
                  </a:cubicBezTo>
                  <a:lnTo>
                    <a:pt x="0" y="83798"/>
                  </a:lnTo>
                  <a:cubicBezTo>
                    <a:pt x="0" y="37518"/>
                    <a:pt x="37518" y="0"/>
                    <a:pt x="83798" y="0"/>
                  </a:cubicBezTo>
                  <a:close/>
                </a:path>
              </a:pathLst>
            </a:custGeom>
            <a:solidFill>
              <a:srgbClr val="D2C1B6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258825" cy="2056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6181145" y="9248775"/>
            <a:ext cx="691721" cy="4844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28"/>
              </a:lnSpc>
            </a:pPr>
            <a:r>
              <a:rPr lang="en-US" sz="2877" b="1">
                <a:solidFill>
                  <a:srgbClr val="1B3C53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11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7067659" y="9415048"/>
            <a:ext cx="2388751" cy="318171"/>
            <a:chOff x="0" y="0"/>
            <a:chExt cx="629136" cy="83798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29136" cy="83798"/>
            </a:xfrm>
            <a:custGeom>
              <a:avLst/>
              <a:gdLst/>
              <a:ahLst/>
              <a:cxnLst/>
              <a:rect l="l" t="t" r="r" b="b"/>
              <a:pathLst>
                <a:path w="629136" h="83798">
                  <a:moveTo>
                    <a:pt x="41899" y="0"/>
                  </a:moveTo>
                  <a:lnTo>
                    <a:pt x="587237" y="0"/>
                  </a:lnTo>
                  <a:cubicBezTo>
                    <a:pt x="598349" y="0"/>
                    <a:pt x="609007" y="4414"/>
                    <a:pt x="616864" y="12272"/>
                  </a:cubicBezTo>
                  <a:cubicBezTo>
                    <a:pt x="624722" y="20130"/>
                    <a:pt x="629136" y="30787"/>
                    <a:pt x="629136" y="41899"/>
                  </a:cubicBezTo>
                  <a:lnTo>
                    <a:pt x="629136" y="41899"/>
                  </a:lnTo>
                  <a:cubicBezTo>
                    <a:pt x="629136" y="53011"/>
                    <a:pt x="624722" y="63668"/>
                    <a:pt x="616864" y="71526"/>
                  </a:cubicBezTo>
                  <a:cubicBezTo>
                    <a:pt x="609007" y="79384"/>
                    <a:pt x="598349" y="83798"/>
                    <a:pt x="587237" y="83798"/>
                  </a:cubicBezTo>
                  <a:lnTo>
                    <a:pt x="41899" y="83798"/>
                  </a:lnTo>
                  <a:cubicBezTo>
                    <a:pt x="30787" y="83798"/>
                    <a:pt x="20130" y="79384"/>
                    <a:pt x="12272" y="71526"/>
                  </a:cubicBezTo>
                  <a:cubicBezTo>
                    <a:pt x="4414" y="63668"/>
                    <a:pt x="0" y="53011"/>
                    <a:pt x="0" y="41899"/>
                  </a:cubicBezTo>
                  <a:lnTo>
                    <a:pt x="0" y="41899"/>
                  </a:lnTo>
                  <a:cubicBezTo>
                    <a:pt x="0" y="30787"/>
                    <a:pt x="4414" y="20130"/>
                    <a:pt x="12272" y="12272"/>
                  </a:cubicBezTo>
                  <a:cubicBezTo>
                    <a:pt x="20130" y="4414"/>
                    <a:pt x="30787" y="0"/>
                    <a:pt x="41899" y="0"/>
                  </a:cubicBezTo>
                  <a:close/>
                </a:path>
              </a:pathLst>
            </a:custGeom>
            <a:solidFill>
              <a:srgbClr val="D2C1B6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629136" cy="1218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98058" y="1028700"/>
            <a:ext cx="1965454" cy="835863"/>
            <a:chOff x="0" y="0"/>
            <a:chExt cx="517651" cy="22014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17651" cy="220145"/>
            </a:xfrm>
            <a:custGeom>
              <a:avLst/>
              <a:gdLst/>
              <a:ahLst/>
              <a:cxnLst/>
              <a:rect l="l" t="t" r="r" b="b"/>
              <a:pathLst>
                <a:path w="517651" h="220145">
                  <a:moveTo>
                    <a:pt x="0" y="0"/>
                  </a:moveTo>
                  <a:lnTo>
                    <a:pt x="517651" y="0"/>
                  </a:lnTo>
                  <a:lnTo>
                    <a:pt x="517651" y="220145"/>
                  </a:lnTo>
                  <a:lnTo>
                    <a:pt x="0" y="220145"/>
                  </a:lnTo>
                  <a:close/>
                </a:path>
              </a:pathLst>
            </a:custGeom>
            <a:solidFill>
              <a:srgbClr val="456882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17651" cy="2582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10800000">
            <a:off x="-298058" y="8703759"/>
            <a:ext cx="19149961" cy="2268078"/>
            <a:chOff x="0" y="0"/>
            <a:chExt cx="5043611" cy="59735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043611" cy="597354"/>
            </a:xfrm>
            <a:custGeom>
              <a:avLst/>
              <a:gdLst/>
              <a:ahLst/>
              <a:cxnLst/>
              <a:rect l="l" t="t" r="r" b="b"/>
              <a:pathLst>
                <a:path w="5043611" h="597354">
                  <a:moveTo>
                    <a:pt x="0" y="0"/>
                  </a:moveTo>
                  <a:lnTo>
                    <a:pt x="5043611" y="0"/>
                  </a:lnTo>
                  <a:lnTo>
                    <a:pt x="5043611" y="597354"/>
                  </a:lnTo>
                  <a:lnTo>
                    <a:pt x="0" y="597354"/>
                  </a:lnTo>
                  <a:close/>
                </a:path>
              </a:pathLst>
            </a:custGeom>
            <a:solidFill>
              <a:srgbClr val="456882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5043611" cy="6354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 rot="-10800000">
            <a:off x="-576606" y="-602312"/>
            <a:ext cx="19149961" cy="1013842"/>
            <a:chOff x="0" y="0"/>
            <a:chExt cx="5043611" cy="26702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043611" cy="267020"/>
            </a:xfrm>
            <a:custGeom>
              <a:avLst/>
              <a:gdLst/>
              <a:ahLst/>
              <a:cxnLst/>
              <a:rect l="l" t="t" r="r" b="b"/>
              <a:pathLst>
                <a:path w="5043611" h="267020">
                  <a:moveTo>
                    <a:pt x="0" y="0"/>
                  </a:moveTo>
                  <a:lnTo>
                    <a:pt x="5043611" y="0"/>
                  </a:lnTo>
                  <a:lnTo>
                    <a:pt x="5043611" y="267020"/>
                  </a:lnTo>
                  <a:lnTo>
                    <a:pt x="0" y="267020"/>
                  </a:lnTo>
                  <a:close/>
                </a:path>
              </a:pathLst>
            </a:custGeom>
            <a:solidFill>
              <a:srgbClr val="D2C1B6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5043611" cy="3051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4002866" y="-3253595"/>
            <a:ext cx="3972138" cy="5920531"/>
          </a:xfrm>
          <a:custGeom>
            <a:avLst/>
            <a:gdLst/>
            <a:ahLst/>
            <a:cxnLst/>
            <a:rect l="l" t="t" r="r" b="b"/>
            <a:pathLst>
              <a:path w="3972138" h="5920531">
                <a:moveTo>
                  <a:pt x="0" y="0"/>
                </a:moveTo>
                <a:lnTo>
                  <a:pt x="3972138" y="0"/>
                </a:lnTo>
                <a:lnTo>
                  <a:pt x="3972138" y="5920531"/>
                </a:lnTo>
                <a:lnTo>
                  <a:pt x="0" y="59205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-298058" y="8703759"/>
            <a:ext cx="2949403" cy="2375610"/>
          </a:xfrm>
          <a:custGeom>
            <a:avLst/>
            <a:gdLst/>
            <a:ahLst/>
            <a:cxnLst/>
            <a:rect l="l" t="t" r="r" b="b"/>
            <a:pathLst>
              <a:path w="2949403" h="2375610">
                <a:moveTo>
                  <a:pt x="0" y="0"/>
                </a:moveTo>
                <a:lnTo>
                  <a:pt x="2949403" y="0"/>
                </a:lnTo>
                <a:lnTo>
                  <a:pt x="2949403" y="2375610"/>
                </a:lnTo>
                <a:lnTo>
                  <a:pt x="0" y="23756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3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895518" y="563930"/>
            <a:ext cx="12543373" cy="14255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186"/>
              </a:lnSpc>
            </a:pPr>
            <a:r>
              <a:rPr lang="en-US" sz="8704" b="1" dirty="0" err="1">
                <a:solidFill>
                  <a:srgbClr val="1B3C53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Pertemuan</a:t>
            </a:r>
            <a:r>
              <a:rPr lang="en-US" sz="8704" b="1" dirty="0">
                <a:solidFill>
                  <a:srgbClr val="1B3C53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 6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12502" y="3503810"/>
            <a:ext cx="6990561" cy="4331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20772" lvl="1" indent="-260386">
              <a:lnSpc>
                <a:spcPts val="3376"/>
              </a:lnSpc>
              <a:buFont typeface="Arial"/>
              <a:buChar char="•"/>
            </a:pPr>
            <a:r>
              <a:rPr lang="en-US" sz="2412" dirty="0">
                <a:solidFill>
                  <a:srgbClr val="1B3C5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Firebase </a:t>
            </a:r>
            <a:r>
              <a:rPr lang="en-US" sz="2412" dirty="0" err="1">
                <a:solidFill>
                  <a:srgbClr val="1B3C5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merupakan</a:t>
            </a:r>
            <a:r>
              <a:rPr lang="en-US" sz="2412" dirty="0">
                <a:solidFill>
                  <a:srgbClr val="1B3C5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lang="en-US" sz="2412" dirty="0" err="1">
                <a:solidFill>
                  <a:srgbClr val="1B3C5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penyimpanan</a:t>
            </a:r>
            <a:r>
              <a:rPr lang="en-US" sz="2412" dirty="0">
                <a:solidFill>
                  <a:srgbClr val="1B3C5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data di </a:t>
            </a:r>
            <a:r>
              <a:rPr lang="en-US" sz="2412" dirty="0" err="1">
                <a:solidFill>
                  <a:srgbClr val="1B3C5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luar</a:t>
            </a:r>
            <a:r>
              <a:rPr lang="en-US" sz="2412" dirty="0">
                <a:solidFill>
                  <a:srgbClr val="1B3C5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Android yang </a:t>
            </a:r>
            <a:r>
              <a:rPr lang="en-US" sz="2412" dirty="0" err="1">
                <a:solidFill>
                  <a:srgbClr val="1B3C5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dapat</a:t>
            </a:r>
            <a:r>
              <a:rPr lang="en-US" sz="2412" dirty="0">
                <a:solidFill>
                  <a:srgbClr val="1B3C5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</a:p>
          <a:p>
            <a:pPr marL="520772" lvl="1" indent="-260386">
              <a:lnSpc>
                <a:spcPts val="3376"/>
              </a:lnSpc>
              <a:buFont typeface="Arial"/>
              <a:buChar char="•"/>
            </a:pPr>
            <a:r>
              <a:rPr lang="en-US" sz="2412" dirty="0" err="1">
                <a:solidFill>
                  <a:srgbClr val="1B3C5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digunakan</a:t>
            </a:r>
            <a:r>
              <a:rPr lang="en-US" sz="2412" dirty="0">
                <a:solidFill>
                  <a:srgbClr val="1B3C5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lang="en-US" sz="2412" dirty="0" err="1">
                <a:solidFill>
                  <a:srgbClr val="1B3C5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untuk</a:t>
            </a:r>
            <a:r>
              <a:rPr lang="en-US" sz="2412" dirty="0">
                <a:solidFill>
                  <a:srgbClr val="1B3C5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lang="en-US" sz="2412" dirty="0" err="1">
                <a:solidFill>
                  <a:srgbClr val="1B3C5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penyimpanan</a:t>
            </a:r>
            <a:r>
              <a:rPr lang="en-US" sz="2412" dirty="0">
                <a:solidFill>
                  <a:srgbClr val="1B3C5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dan </a:t>
            </a:r>
            <a:r>
              <a:rPr lang="en-US" sz="2412" dirty="0" err="1">
                <a:solidFill>
                  <a:srgbClr val="1B3C5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berbagai</a:t>
            </a:r>
            <a:r>
              <a:rPr lang="en-US" sz="2412" dirty="0">
                <a:solidFill>
                  <a:srgbClr val="1B3C5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data. </a:t>
            </a:r>
            <a:r>
              <a:rPr lang="en-US" sz="2412" dirty="0" err="1">
                <a:solidFill>
                  <a:srgbClr val="1B3C5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Penyimpanan</a:t>
            </a:r>
            <a:r>
              <a:rPr lang="en-US" sz="2412" dirty="0">
                <a:solidFill>
                  <a:srgbClr val="1B3C5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dan </a:t>
            </a:r>
          </a:p>
          <a:p>
            <a:pPr marL="520772" lvl="1" indent="-260386">
              <a:lnSpc>
                <a:spcPts val="3376"/>
              </a:lnSpc>
              <a:buFont typeface="Arial"/>
              <a:buChar char="•"/>
            </a:pPr>
            <a:r>
              <a:rPr lang="en-US" sz="2412" dirty="0" err="1">
                <a:solidFill>
                  <a:srgbClr val="1B3C5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sinkronisasi</a:t>
            </a:r>
            <a:r>
              <a:rPr lang="en-US" sz="2412" dirty="0">
                <a:solidFill>
                  <a:srgbClr val="1B3C5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data </a:t>
            </a:r>
            <a:r>
              <a:rPr lang="en-US" sz="2412" dirty="0" err="1">
                <a:solidFill>
                  <a:srgbClr val="1B3C5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dengan</a:t>
            </a:r>
            <a:r>
              <a:rPr lang="en-US" sz="2412" dirty="0">
                <a:solidFill>
                  <a:srgbClr val="1B3C5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Firebase Cloud Database </a:t>
            </a:r>
            <a:r>
              <a:rPr lang="en-US" sz="2412" dirty="0" err="1">
                <a:solidFill>
                  <a:srgbClr val="1B3C5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dapat</a:t>
            </a:r>
            <a:r>
              <a:rPr lang="en-US" sz="2412" dirty="0">
                <a:solidFill>
                  <a:srgbClr val="1B3C5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lang="en-US" sz="2412" dirty="0" err="1">
                <a:solidFill>
                  <a:srgbClr val="1B3C5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diakses</a:t>
            </a:r>
            <a:r>
              <a:rPr lang="en-US" sz="2412" dirty="0">
                <a:solidFill>
                  <a:srgbClr val="1B3C5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</a:p>
          <a:p>
            <a:pPr marL="520772" lvl="1" indent="-260386">
              <a:lnSpc>
                <a:spcPts val="3376"/>
              </a:lnSpc>
              <a:buFont typeface="Arial"/>
              <a:buChar char="•"/>
            </a:pPr>
            <a:r>
              <a:rPr lang="en-US" sz="2412" dirty="0" err="1">
                <a:solidFill>
                  <a:srgbClr val="1B3C5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melalui</a:t>
            </a:r>
            <a:r>
              <a:rPr lang="en-US" sz="2412" dirty="0">
                <a:solidFill>
                  <a:srgbClr val="1B3C5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https://firebase.google.com. Data </a:t>
            </a:r>
            <a:r>
              <a:rPr lang="en-US" sz="2412" dirty="0" err="1">
                <a:solidFill>
                  <a:srgbClr val="1B3C5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akan</a:t>
            </a:r>
            <a:r>
              <a:rPr lang="en-US" sz="2412" dirty="0">
                <a:solidFill>
                  <a:srgbClr val="1B3C5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lang="en-US" sz="2412" dirty="0" err="1">
                <a:solidFill>
                  <a:srgbClr val="1B3C5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disinkronisasi</a:t>
            </a:r>
            <a:r>
              <a:rPr lang="en-US" sz="2412" dirty="0">
                <a:solidFill>
                  <a:srgbClr val="1B3C5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di </a:t>
            </a:r>
            <a:r>
              <a:rPr lang="en-US" sz="2412" dirty="0" err="1">
                <a:solidFill>
                  <a:srgbClr val="1B3C5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semua</a:t>
            </a:r>
            <a:r>
              <a:rPr lang="en-US" sz="2412" dirty="0">
                <a:solidFill>
                  <a:srgbClr val="1B3C5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</a:p>
          <a:p>
            <a:pPr marL="520772" lvl="1" indent="-260386">
              <a:lnSpc>
                <a:spcPts val="3376"/>
              </a:lnSpc>
              <a:buFont typeface="Arial"/>
              <a:buChar char="•"/>
            </a:pPr>
            <a:r>
              <a:rPr lang="en-US" sz="2412" dirty="0">
                <a:solidFill>
                  <a:srgbClr val="1B3C5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client, dan </a:t>
            </a:r>
            <a:r>
              <a:rPr lang="en-US" sz="2412" dirty="0" err="1">
                <a:solidFill>
                  <a:srgbClr val="1B3C5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akan</a:t>
            </a:r>
            <a:r>
              <a:rPr lang="en-US" sz="2412" dirty="0">
                <a:solidFill>
                  <a:srgbClr val="1B3C5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lang="en-US" sz="2412" dirty="0" err="1">
                <a:solidFill>
                  <a:srgbClr val="1B3C5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tetap</a:t>
            </a:r>
            <a:r>
              <a:rPr lang="en-US" sz="2412" dirty="0">
                <a:solidFill>
                  <a:srgbClr val="1B3C5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lang="en-US" sz="2412" dirty="0" err="1">
                <a:solidFill>
                  <a:srgbClr val="1B3C5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tersedia</a:t>
            </a:r>
            <a:r>
              <a:rPr lang="en-US" sz="2412" dirty="0">
                <a:solidFill>
                  <a:srgbClr val="1B3C5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lang="en-US" sz="2412" dirty="0" err="1">
                <a:solidFill>
                  <a:srgbClr val="1B3C5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saat</a:t>
            </a:r>
            <a:r>
              <a:rPr lang="en-US" sz="2412" dirty="0">
                <a:solidFill>
                  <a:srgbClr val="1B3C5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lang="en-US" sz="2412" dirty="0" err="1">
                <a:solidFill>
                  <a:srgbClr val="1B3C5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aplikasi</a:t>
            </a:r>
            <a:r>
              <a:rPr lang="en-US" sz="2412" dirty="0">
                <a:solidFill>
                  <a:srgbClr val="1B3C5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offline.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1895518" y="1888615"/>
            <a:ext cx="6257882" cy="488636"/>
            <a:chOff x="0" y="0"/>
            <a:chExt cx="588441" cy="171853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588441" cy="171853"/>
            </a:xfrm>
            <a:custGeom>
              <a:avLst/>
              <a:gdLst/>
              <a:ahLst/>
              <a:cxnLst/>
              <a:rect l="l" t="t" r="r" b="b"/>
              <a:pathLst>
                <a:path w="588441" h="171853">
                  <a:moveTo>
                    <a:pt x="85927" y="0"/>
                  </a:moveTo>
                  <a:lnTo>
                    <a:pt x="502514" y="0"/>
                  </a:lnTo>
                  <a:cubicBezTo>
                    <a:pt x="549970" y="0"/>
                    <a:pt x="588441" y="38471"/>
                    <a:pt x="588441" y="85927"/>
                  </a:cubicBezTo>
                  <a:lnTo>
                    <a:pt x="588441" y="85927"/>
                  </a:lnTo>
                  <a:cubicBezTo>
                    <a:pt x="588441" y="108716"/>
                    <a:pt x="579388" y="130572"/>
                    <a:pt x="563274" y="146686"/>
                  </a:cubicBezTo>
                  <a:cubicBezTo>
                    <a:pt x="547159" y="162800"/>
                    <a:pt x="525304" y="171853"/>
                    <a:pt x="502514" y="171853"/>
                  </a:cubicBezTo>
                  <a:lnTo>
                    <a:pt x="85927" y="171853"/>
                  </a:lnTo>
                  <a:cubicBezTo>
                    <a:pt x="38471" y="171853"/>
                    <a:pt x="0" y="133383"/>
                    <a:pt x="0" y="85927"/>
                  </a:cubicBezTo>
                  <a:lnTo>
                    <a:pt x="0" y="85927"/>
                  </a:lnTo>
                  <a:cubicBezTo>
                    <a:pt x="0" y="38471"/>
                    <a:pt x="38471" y="0"/>
                    <a:pt x="85927" y="0"/>
                  </a:cubicBezTo>
                  <a:close/>
                </a:path>
              </a:pathLst>
            </a:custGeom>
            <a:solidFill>
              <a:srgbClr val="D2C1B6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588441" cy="2099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891036" y="1833477"/>
            <a:ext cx="6520844" cy="4078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376"/>
              </a:lnSpc>
            </a:pPr>
            <a:r>
              <a:rPr lang="en-US" sz="2412" b="1" dirty="0" err="1">
                <a:solidFill>
                  <a:srgbClr val="1B3C53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Penyimpanan</a:t>
            </a:r>
            <a:r>
              <a:rPr lang="en-US" sz="2412" b="1" dirty="0">
                <a:solidFill>
                  <a:srgbClr val="1B3C53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 data </a:t>
            </a:r>
            <a:r>
              <a:rPr lang="en-US" sz="2412" b="1" dirty="0" err="1">
                <a:solidFill>
                  <a:srgbClr val="1B3C53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eksternal</a:t>
            </a:r>
            <a:r>
              <a:rPr lang="en-US" sz="2412" b="1" dirty="0">
                <a:solidFill>
                  <a:srgbClr val="1B3C53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 firebase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633557" y="3523981"/>
            <a:ext cx="6990561" cy="2587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20772" lvl="1" indent="-260386">
              <a:lnSpc>
                <a:spcPts val="3376"/>
              </a:lnSpc>
              <a:buFont typeface="Arial"/>
              <a:buChar char="•"/>
            </a:pPr>
            <a:r>
              <a:rPr lang="en-US" sz="2412" dirty="0">
                <a:solidFill>
                  <a:srgbClr val="1B3C5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Firebase Realtime Database </a:t>
            </a:r>
          </a:p>
          <a:p>
            <a:pPr marL="520772" lvl="1" indent="-260386">
              <a:lnSpc>
                <a:spcPts val="3376"/>
              </a:lnSpc>
              <a:buFont typeface="Arial"/>
              <a:buChar char="•"/>
            </a:pPr>
            <a:r>
              <a:rPr lang="en-US" sz="2412" dirty="0" err="1">
                <a:solidFill>
                  <a:srgbClr val="1B3C5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dapat</a:t>
            </a:r>
            <a:r>
              <a:rPr lang="en-US" sz="2412" dirty="0">
                <a:solidFill>
                  <a:srgbClr val="1B3C5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lang="en-US" sz="2412" dirty="0" err="1">
                <a:solidFill>
                  <a:srgbClr val="1B3C5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kita</a:t>
            </a:r>
            <a:r>
              <a:rPr lang="en-US" sz="2412" dirty="0">
                <a:solidFill>
                  <a:srgbClr val="1B3C5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lang="en-US" sz="2412" dirty="0" err="1">
                <a:solidFill>
                  <a:srgbClr val="1B3C5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gunakan</a:t>
            </a:r>
            <a:r>
              <a:rPr lang="en-US" sz="2412" dirty="0">
                <a:solidFill>
                  <a:srgbClr val="1B3C5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lang="en-US" sz="2412" dirty="0" err="1">
                <a:solidFill>
                  <a:srgbClr val="1B3C5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untuk</a:t>
            </a:r>
            <a:r>
              <a:rPr lang="en-US" sz="2412" dirty="0">
                <a:solidFill>
                  <a:srgbClr val="1B3C5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lang="en-US" sz="2412" dirty="0" err="1">
                <a:solidFill>
                  <a:srgbClr val="1B3C5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penyimpanan</a:t>
            </a:r>
            <a:r>
              <a:rPr lang="en-US" sz="2412" dirty="0">
                <a:solidFill>
                  <a:srgbClr val="1B3C5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dan </a:t>
            </a:r>
            <a:r>
              <a:rPr lang="en-US" sz="2412" dirty="0" err="1">
                <a:solidFill>
                  <a:srgbClr val="1B3C5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sinkronisasi</a:t>
            </a:r>
            <a:r>
              <a:rPr lang="en-US" sz="2412" dirty="0">
                <a:solidFill>
                  <a:srgbClr val="1B3C5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data </a:t>
            </a:r>
            <a:r>
              <a:rPr lang="en-US" sz="2412" dirty="0" err="1">
                <a:solidFill>
                  <a:srgbClr val="1B3C5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aplikasi</a:t>
            </a:r>
            <a:r>
              <a:rPr lang="en-US" sz="2412" dirty="0">
                <a:solidFill>
                  <a:srgbClr val="1B3C5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</a:p>
          <a:p>
            <a:pPr marL="520772" lvl="1" indent="-260386">
              <a:lnSpc>
                <a:spcPts val="3376"/>
              </a:lnSpc>
              <a:buFont typeface="Arial"/>
              <a:buChar char="•"/>
            </a:pPr>
            <a:r>
              <a:rPr lang="en-US" sz="2412" dirty="0" err="1">
                <a:solidFill>
                  <a:srgbClr val="1B3C5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dalam</a:t>
            </a:r>
            <a:r>
              <a:rPr lang="en-US" sz="2412" dirty="0">
                <a:solidFill>
                  <a:srgbClr val="1B3C5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lang="en-US" sz="2412" dirty="0" err="1">
                <a:solidFill>
                  <a:srgbClr val="1B3C5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satuan</a:t>
            </a:r>
            <a:r>
              <a:rPr lang="en-US" sz="2412" dirty="0">
                <a:solidFill>
                  <a:srgbClr val="1B3C5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lang="en-US" sz="2412" dirty="0" err="1">
                <a:solidFill>
                  <a:srgbClr val="1B3C5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milidetik</a:t>
            </a:r>
            <a:r>
              <a:rPr lang="en-US" sz="2412" dirty="0">
                <a:solidFill>
                  <a:srgbClr val="1B3C5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. </a:t>
            </a:r>
            <a:r>
              <a:rPr lang="en-US" sz="2412" dirty="0" err="1">
                <a:solidFill>
                  <a:srgbClr val="1B3C5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Pembuatan</a:t>
            </a:r>
            <a:r>
              <a:rPr lang="en-US" sz="2412" dirty="0">
                <a:solidFill>
                  <a:srgbClr val="1B3C5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lang="en-US" sz="2412" dirty="0" err="1">
                <a:solidFill>
                  <a:srgbClr val="1B3C5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autentikasi</a:t>
            </a:r>
            <a:r>
              <a:rPr lang="en-US" sz="2412" dirty="0">
                <a:solidFill>
                  <a:srgbClr val="1B3C5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lang="en-US" sz="2412" dirty="0" err="1">
                <a:solidFill>
                  <a:srgbClr val="1B3C5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pengguna</a:t>
            </a:r>
            <a:r>
              <a:rPr lang="en-US" sz="2412" dirty="0">
                <a:solidFill>
                  <a:srgbClr val="1B3C5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juga </a:t>
            </a:r>
            <a:r>
              <a:rPr lang="en-US" sz="2412" dirty="0" err="1">
                <a:solidFill>
                  <a:srgbClr val="1B3C5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cukup</a:t>
            </a:r>
            <a:r>
              <a:rPr lang="en-US" sz="2412" dirty="0">
                <a:solidFill>
                  <a:srgbClr val="1B3C5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</a:p>
          <a:p>
            <a:pPr marL="520772" lvl="1" indent="-260386">
              <a:lnSpc>
                <a:spcPts val="3376"/>
              </a:lnSpc>
              <a:buFont typeface="Arial"/>
              <a:buChar char="•"/>
            </a:pPr>
            <a:r>
              <a:rPr lang="en-US" sz="2412" dirty="0" err="1">
                <a:solidFill>
                  <a:srgbClr val="1B3C5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sederhana</a:t>
            </a:r>
            <a:r>
              <a:rPr lang="en-US" sz="2412" dirty="0">
                <a:solidFill>
                  <a:srgbClr val="1B3C5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dan </a:t>
            </a:r>
            <a:r>
              <a:rPr lang="en-US" sz="2412" dirty="0" err="1">
                <a:solidFill>
                  <a:srgbClr val="1B3C5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aman</a:t>
            </a:r>
            <a:r>
              <a:rPr lang="en-US" sz="2412" dirty="0">
                <a:solidFill>
                  <a:srgbClr val="1B3C5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.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16035642" y="9258300"/>
            <a:ext cx="982727" cy="636341"/>
            <a:chOff x="0" y="0"/>
            <a:chExt cx="258825" cy="167596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258825" cy="167596"/>
            </a:xfrm>
            <a:custGeom>
              <a:avLst/>
              <a:gdLst/>
              <a:ahLst/>
              <a:cxnLst/>
              <a:rect l="l" t="t" r="r" b="b"/>
              <a:pathLst>
                <a:path w="258825" h="167596">
                  <a:moveTo>
                    <a:pt x="83798" y="0"/>
                  </a:moveTo>
                  <a:lnTo>
                    <a:pt x="175027" y="0"/>
                  </a:lnTo>
                  <a:cubicBezTo>
                    <a:pt x="221308" y="0"/>
                    <a:pt x="258825" y="37518"/>
                    <a:pt x="258825" y="83798"/>
                  </a:cubicBezTo>
                  <a:lnTo>
                    <a:pt x="258825" y="83798"/>
                  </a:lnTo>
                  <a:cubicBezTo>
                    <a:pt x="258825" y="130078"/>
                    <a:pt x="221308" y="167596"/>
                    <a:pt x="175027" y="167596"/>
                  </a:cubicBezTo>
                  <a:lnTo>
                    <a:pt x="83798" y="167596"/>
                  </a:lnTo>
                  <a:cubicBezTo>
                    <a:pt x="37518" y="167596"/>
                    <a:pt x="0" y="130078"/>
                    <a:pt x="0" y="83798"/>
                  </a:cubicBezTo>
                  <a:lnTo>
                    <a:pt x="0" y="83798"/>
                  </a:lnTo>
                  <a:cubicBezTo>
                    <a:pt x="0" y="37518"/>
                    <a:pt x="37518" y="0"/>
                    <a:pt x="83798" y="0"/>
                  </a:cubicBezTo>
                  <a:close/>
                </a:path>
              </a:pathLst>
            </a:custGeom>
            <a:solidFill>
              <a:srgbClr val="D2C1B6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0" y="-38100"/>
              <a:ext cx="258825" cy="2056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16181145" y="9248775"/>
            <a:ext cx="691721" cy="4844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28"/>
              </a:lnSpc>
            </a:pPr>
            <a:r>
              <a:rPr lang="en-US" sz="2877" b="1">
                <a:solidFill>
                  <a:srgbClr val="1B3C53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12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17067659" y="9415048"/>
            <a:ext cx="2388751" cy="318171"/>
            <a:chOff x="0" y="0"/>
            <a:chExt cx="629136" cy="83798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629136" cy="83798"/>
            </a:xfrm>
            <a:custGeom>
              <a:avLst/>
              <a:gdLst/>
              <a:ahLst/>
              <a:cxnLst/>
              <a:rect l="l" t="t" r="r" b="b"/>
              <a:pathLst>
                <a:path w="629136" h="83798">
                  <a:moveTo>
                    <a:pt x="41899" y="0"/>
                  </a:moveTo>
                  <a:lnTo>
                    <a:pt x="587237" y="0"/>
                  </a:lnTo>
                  <a:cubicBezTo>
                    <a:pt x="598349" y="0"/>
                    <a:pt x="609007" y="4414"/>
                    <a:pt x="616864" y="12272"/>
                  </a:cubicBezTo>
                  <a:cubicBezTo>
                    <a:pt x="624722" y="20130"/>
                    <a:pt x="629136" y="30787"/>
                    <a:pt x="629136" y="41899"/>
                  </a:cubicBezTo>
                  <a:lnTo>
                    <a:pt x="629136" y="41899"/>
                  </a:lnTo>
                  <a:cubicBezTo>
                    <a:pt x="629136" y="53011"/>
                    <a:pt x="624722" y="63668"/>
                    <a:pt x="616864" y="71526"/>
                  </a:cubicBezTo>
                  <a:cubicBezTo>
                    <a:pt x="609007" y="79384"/>
                    <a:pt x="598349" y="83798"/>
                    <a:pt x="587237" y="83798"/>
                  </a:cubicBezTo>
                  <a:lnTo>
                    <a:pt x="41899" y="83798"/>
                  </a:lnTo>
                  <a:cubicBezTo>
                    <a:pt x="30787" y="83798"/>
                    <a:pt x="20130" y="79384"/>
                    <a:pt x="12272" y="71526"/>
                  </a:cubicBezTo>
                  <a:cubicBezTo>
                    <a:pt x="4414" y="63668"/>
                    <a:pt x="0" y="53011"/>
                    <a:pt x="0" y="41899"/>
                  </a:cubicBezTo>
                  <a:lnTo>
                    <a:pt x="0" y="41899"/>
                  </a:lnTo>
                  <a:cubicBezTo>
                    <a:pt x="0" y="30787"/>
                    <a:pt x="4414" y="20130"/>
                    <a:pt x="12272" y="12272"/>
                  </a:cubicBezTo>
                  <a:cubicBezTo>
                    <a:pt x="20130" y="4414"/>
                    <a:pt x="30787" y="0"/>
                    <a:pt x="41899" y="0"/>
                  </a:cubicBezTo>
                  <a:close/>
                </a:path>
              </a:pathLst>
            </a:custGeom>
            <a:solidFill>
              <a:srgbClr val="D2C1B6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0" y="-38100"/>
              <a:ext cx="629136" cy="1218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141346" y="3065811"/>
            <a:ext cx="13773616" cy="4155378"/>
            <a:chOff x="0" y="0"/>
            <a:chExt cx="3627619" cy="109442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627619" cy="1094420"/>
            </a:xfrm>
            <a:custGeom>
              <a:avLst/>
              <a:gdLst/>
              <a:ahLst/>
              <a:cxnLst/>
              <a:rect l="l" t="t" r="r" b="b"/>
              <a:pathLst>
                <a:path w="3627619" h="1094420">
                  <a:moveTo>
                    <a:pt x="0" y="0"/>
                  </a:moveTo>
                  <a:lnTo>
                    <a:pt x="3627619" y="0"/>
                  </a:lnTo>
                  <a:lnTo>
                    <a:pt x="3627619" y="1094420"/>
                  </a:lnTo>
                  <a:lnTo>
                    <a:pt x="0" y="1094420"/>
                  </a:lnTo>
                  <a:close/>
                </a:path>
              </a:pathLst>
            </a:custGeom>
            <a:solidFill>
              <a:srgbClr val="456882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3627619" cy="11325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2034016" y="-316725"/>
            <a:ext cx="6850101" cy="10920450"/>
          </a:xfrm>
          <a:custGeom>
            <a:avLst/>
            <a:gdLst/>
            <a:ahLst/>
            <a:cxnLst/>
            <a:rect l="l" t="t" r="r" b="b"/>
            <a:pathLst>
              <a:path w="6850101" h="10920450">
                <a:moveTo>
                  <a:pt x="0" y="0"/>
                </a:moveTo>
                <a:lnTo>
                  <a:pt x="6850100" y="0"/>
                </a:lnTo>
                <a:lnTo>
                  <a:pt x="6850100" y="10920450"/>
                </a:lnTo>
                <a:lnTo>
                  <a:pt x="0" y="109204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0" y="0"/>
            <a:ext cx="3059915" cy="4114800"/>
          </a:xfrm>
          <a:custGeom>
            <a:avLst/>
            <a:gdLst/>
            <a:ahLst/>
            <a:cxnLst/>
            <a:rect l="l" t="t" r="r" b="b"/>
            <a:pathLst>
              <a:path w="3059915" h="4114800">
                <a:moveTo>
                  <a:pt x="0" y="0"/>
                </a:moveTo>
                <a:lnTo>
                  <a:pt x="3059915" y="0"/>
                </a:lnTo>
                <a:lnTo>
                  <a:pt x="305991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-1127897" y="9258300"/>
            <a:ext cx="10005308" cy="255013"/>
            <a:chOff x="0" y="0"/>
            <a:chExt cx="2635143" cy="6716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635143" cy="67164"/>
            </a:xfrm>
            <a:custGeom>
              <a:avLst/>
              <a:gdLst/>
              <a:ahLst/>
              <a:cxnLst/>
              <a:rect l="l" t="t" r="r" b="b"/>
              <a:pathLst>
                <a:path w="2635143" h="67164">
                  <a:moveTo>
                    <a:pt x="0" y="0"/>
                  </a:moveTo>
                  <a:lnTo>
                    <a:pt x="2635143" y="0"/>
                  </a:lnTo>
                  <a:lnTo>
                    <a:pt x="2635143" y="67164"/>
                  </a:lnTo>
                  <a:lnTo>
                    <a:pt x="0" y="67164"/>
                  </a:lnTo>
                  <a:close/>
                </a:path>
              </a:pathLst>
            </a:custGeom>
            <a:solidFill>
              <a:srgbClr val="1B3C53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635143" cy="1052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0" y="9644889"/>
            <a:ext cx="10005308" cy="255013"/>
            <a:chOff x="0" y="0"/>
            <a:chExt cx="2635143" cy="6716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635143" cy="67164"/>
            </a:xfrm>
            <a:custGeom>
              <a:avLst/>
              <a:gdLst/>
              <a:ahLst/>
              <a:cxnLst/>
              <a:rect l="l" t="t" r="r" b="b"/>
              <a:pathLst>
                <a:path w="2635143" h="67164">
                  <a:moveTo>
                    <a:pt x="0" y="0"/>
                  </a:moveTo>
                  <a:lnTo>
                    <a:pt x="2635143" y="0"/>
                  </a:lnTo>
                  <a:lnTo>
                    <a:pt x="2635143" y="67164"/>
                  </a:lnTo>
                  <a:lnTo>
                    <a:pt x="0" y="67164"/>
                  </a:lnTo>
                  <a:close/>
                </a:path>
              </a:pathLst>
            </a:custGeom>
            <a:solidFill>
              <a:srgbClr val="D2C1B6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2635143" cy="1052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 flipH="1">
            <a:off x="-1559016" y="6586521"/>
            <a:ext cx="3088973" cy="2285840"/>
          </a:xfrm>
          <a:custGeom>
            <a:avLst/>
            <a:gdLst/>
            <a:ahLst/>
            <a:cxnLst/>
            <a:rect l="l" t="t" r="r" b="b"/>
            <a:pathLst>
              <a:path w="3088973" h="2285840">
                <a:moveTo>
                  <a:pt x="3088973" y="0"/>
                </a:moveTo>
                <a:lnTo>
                  <a:pt x="0" y="0"/>
                </a:lnTo>
                <a:lnTo>
                  <a:pt x="0" y="2285840"/>
                </a:lnTo>
                <a:lnTo>
                  <a:pt x="3088973" y="2285840"/>
                </a:lnTo>
                <a:lnTo>
                  <a:pt x="3088973" y="0"/>
                </a:lnTo>
                <a:close/>
              </a:path>
            </a:pathLst>
          </a:custGeom>
          <a:blipFill>
            <a:blip r:embed="rId6">
              <a:alphaModFix amt="23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1499677" y="8802908"/>
            <a:ext cx="3685104" cy="2968184"/>
          </a:xfrm>
          <a:custGeom>
            <a:avLst/>
            <a:gdLst/>
            <a:ahLst/>
            <a:cxnLst/>
            <a:rect l="l" t="t" r="r" b="b"/>
            <a:pathLst>
              <a:path w="3685104" h="2968184">
                <a:moveTo>
                  <a:pt x="0" y="0"/>
                </a:moveTo>
                <a:lnTo>
                  <a:pt x="3685104" y="0"/>
                </a:lnTo>
                <a:lnTo>
                  <a:pt x="3685104" y="2968184"/>
                </a:lnTo>
                <a:lnTo>
                  <a:pt x="0" y="296818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36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4450302" y="2951511"/>
            <a:ext cx="8112737" cy="2281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631"/>
              </a:lnSpc>
            </a:pPr>
            <a:r>
              <a:rPr lang="en-US" sz="13308" b="1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TERIMA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450302" y="4593007"/>
            <a:ext cx="10073216" cy="2281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631"/>
              </a:lnSpc>
            </a:pPr>
            <a:r>
              <a:rPr lang="en-US" sz="13308" b="1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KASIH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1301</Words>
  <Application>Microsoft Office PowerPoint</Application>
  <PresentationFormat>Custom</PresentationFormat>
  <Paragraphs>160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Libre Baskerville</vt:lpstr>
      <vt:lpstr>Playfair Display Bold</vt:lpstr>
      <vt:lpstr>Libre Baskerville Bold</vt:lpstr>
      <vt:lpstr>Times New Roman</vt:lpstr>
      <vt:lpstr>Calibri</vt:lpstr>
      <vt:lpstr>Arial</vt:lpstr>
      <vt:lpstr>Urdu Typesetting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Biru dan Coklat Minimalis Seminar Proposal Presentasi</dc:title>
  <cp:lastModifiedBy>Nagori Siantar</cp:lastModifiedBy>
  <cp:revision>4</cp:revision>
  <dcterms:created xsi:type="dcterms:W3CDTF">2006-08-16T00:00:00Z</dcterms:created>
  <dcterms:modified xsi:type="dcterms:W3CDTF">2026-10-24T09:24:54Z</dcterms:modified>
  <dc:identifier>DAHY1O75lUs</dc:identifier>
</cp:coreProperties>
</file>